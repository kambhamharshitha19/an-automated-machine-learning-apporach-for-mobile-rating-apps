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 id="2147483672" r:id="rId4"/>
    <p:sldMasterId id="2147483684" r:id="rId5"/>
    <p:sldMasterId id="2147483696" r:id="rId6"/>
  </p:sldMasterIdLst>
  <p:sldIdLst>
    <p:sldId id="256" r:id="rId7"/>
    <p:sldId id="258" r:id="rId8"/>
    <p:sldId id="265" r:id="rId9"/>
    <p:sldId id="322" r:id="rId10"/>
    <p:sldId id="323" r:id="rId11"/>
    <p:sldId id="332" r:id="rId12"/>
    <p:sldId id="336" r:id="rId13"/>
    <p:sldId id="268" r:id="rId14"/>
    <p:sldId id="270" r:id="rId15"/>
    <p:sldId id="264" r:id="rId16"/>
    <p:sldId id="277" r:id="rId17"/>
    <p:sldId id="278" r:id="rId18"/>
    <p:sldId id="279" r:id="rId19"/>
    <p:sldId id="280" r:id="rId20"/>
    <p:sldId id="284" r:id="rId21"/>
    <p:sldId id="285" r:id="rId22"/>
    <p:sldId id="286" r:id="rId23"/>
    <p:sldId id="287" r:id="rId24"/>
    <p:sldId id="288" r:id="rId25"/>
    <p:sldId id="289" r:id="rId26"/>
    <p:sldId id="290" r:id="rId27"/>
    <p:sldId id="291" r:id="rId28"/>
    <p:sldId id="292" r:id="rId29"/>
    <p:sldId id="295" r:id="rId30"/>
    <p:sldId id="296" r:id="rId31"/>
    <p:sldId id="297" r:id="rId32"/>
    <p:sldId id="298" r:id="rId33"/>
    <p:sldId id="299" r:id="rId34"/>
    <p:sldId id="300" r:id="rId35"/>
    <p:sldId id="301" r:id="rId36"/>
    <p:sldId id="327" r:id="rId37"/>
    <p:sldId id="328" r:id="rId38"/>
    <p:sldId id="329" r:id="rId39"/>
    <p:sldId id="330" r:id="rId40"/>
    <p:sldId id="307" r:id="rId41"/>
    <p:sldId id="308" r:id="rId42"/>
    <p:sldId id="309" r:id="rId43"/>
    <p:sldId id="314" r:id="rId44"/>
    <p:sldId id="315" r:id="rId45"/>
    <p:sldId id="316" r:id="rId46"/>
    <p:sldId id="266" r:id="rId47"/>
    <p:sldId id="260"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8" userDrawn="1">
          <p15:clr>
            <a:srgbClr val="A4A3A4"/>
          </p15:clr>
        </p15:guide>
        <p15:guide id="2" pos="3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98" d="100"/>
          <a:sy n="98" d="100"/>
        </p:scale>
        <p:origin x="110" y="91"/>
      </p:cViewPr>
      <p:guideLst>
        <p:guide orient="horz" pos="2088"/>
        <p:guide pos="379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Master" Target="slideMasters/slideMaster4.xml"/><Relationship Id="rId49" Type="http://schemas.openxmlformats.org/officeDocument/2006/relationships/presProps" Target="presProps.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endParaRPr kumimoji="0" lang="en-US"/>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4" name="Date Placeholder 3"/>
          <p:cNvSpPr>
            <a:spLocks noGrp="1"/>
          </p:cNvSpPr>
          <p:nvPr>
            <p:ph type="dt" sz="half" idx="10"/>
          </p:nvPr>
        </p:nvSpPr>
        <p:spPr/>
        <p:txBody>
          <a:bodyPr/>
          <a:lstStyle/>
          <a:p>
            <a:fld id="{9796027F-7875-4030-9381-8BD8C4F2193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endParaRPr kumimoji="0" lang="en-US"/>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endParaRPr kumimoji="0" lang="en-US"/>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endParaRPr kumimoji="0" lang="en-US"/>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endParaRPr kumimoji="0" lang="en-US"/>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endParaRPr kumimoji="0" lang="en-US"/>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endParaRPr kumimoji="0" lang="en-US"/>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p:txBody>
          <a:bodyPr/>
          <a:lstStyle/>
          <a:p>
            <a:fld id="{B9CA7F16-7EF7-4BAE-A533-BC5C8B1B0BEB}"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endParaRPr kumimoji="0" lang="en-US"/>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fld>
            <a:endParaRPr lang="en-US"/>
          </a:p>
        </p:txBody>
      </p:sp>
      <p:sp>
        <p:nvSpPr>
          <p:cNvPr id="23" name="Title 22"/>
          <p:cNvSpPr>
            <a:spLocks noGrp="1"/>
          </p:cNvSpPr>
          <p:nvPr>
            <p:ph type="title"/>
          </p:nvPr>
        </p:nvSpPr>
        <p:spPr/>
        <p:txBody>
          <a:bodyPr rtlCol="0" anchor="b" anchorCtr="0"/>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endParaRPr kumimoji="0" lang="en-US"/>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endParaRPr kumimoji="0" lang="en-US"/>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7" name="Title 6"/>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8" name="Title 7"/>
          <p:cNvSpPr>
            <a:spLocks noGrp="1"/>
          </p:cNvSpPr>
          <p:nvPr>
            <p:ph type="title"/>
          </p:nvPr>
        </p:nvSpPr>
        <p:spPr/>
        <p:txBody>
          <a:bodyPr/>
          <a:lstStyle/>
          <a:p>
            <a:r>
              <a:rPr lang="en-US"/>
              <a:t>Click to edit Master title style</a:t>
            </a:r>
            <a:endParaRPr lang="en-US"/>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796027F-7875-4030-9381-8BD8C4F2193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
        <p:nvSpPr>
          <p:cNvPr id="8" name="Title 7"/>
          <p:cNvSpPr>
            <a:spLocks noGrp="1"/>
          </p:cNvSpPr>
          <p:nvPr>
            <p:ph type="title"/>
          </p:nvPr>
        </p:nvSpPr>
        <p:spPr/>
        <p:txBody>
          <a:bodyPr/>
          <a:lstStyle/>
          <a:p>
            <a:r>
              <a:rPr lang="en-US"/>
              <a:t>Click to edit Master title style</a:t>
            </a:r>
            <a:endParaRPr lang="en-US"/>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endParaRPr lang="en-US"/>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AAD347D-5ACD-4C99-B74B-A9C85AD731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slideLayout" Target="../slideLayouts/slideLayout56.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panose="05040102010807070707"/>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panose="05020102010507070707"/>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panose="05020102010507070707"/>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2"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microsoft.com/office/2007/relationships/hdphoto" Target="../media/image8.wdp"/><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8.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9.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20.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21.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22.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BEBA8EAE-BF5A-486C-A8C5-ECC9F3942E4B}">
                <a14:imgProps xmlns:a14="http://schemas.microsoft.com/office/drawing/2010/main">
                  <a14:imgLayer r:embed="rId2">
                    <a14:imgEffect>
                      <a14:colorTemperature colorTemp="4700"/>
                    </a14:imgEffect>
                    <a14:imgEffect>
                      <a14:saturation sat="300000"/>
                    </a14:imgEffect>
                  </a14:imgLayer>
                </a14:imgProps>
              </a:ext>
            </a:extLst>
          </a:blip>
          <a:srcRect/>
          <a:stretch>
            <a:fillRect/>
          </a:stretch>
        </p:blipFill>
        <p:spPr>
          <a:xfrm>
            <a:off x="1516743" y="876925"/>
            <a:ext cx="1219200" cy="1132826"/>
          </a:xfrm>
          <a:prstGeom prst="rect">
            <a:avLst/>
          </a:prstGeom>
        </p:spPr>
      </p:pic>
      <p:sp>
        <p:nvSpPr>
          <p:cNvPr id="2" name="Title 1"/>
          <p:cNvSpPr>
            <a:spLocks noGrp="1"/>
          </p:cNvSpPr>
          <p:nvPr>
            <p:ph type="ctrTitle"/>
          </p:nvPr>
        </p:nvSpPr>
        <p:spPr>
          <a:xfrm>
            <a:off x="519430" y="220980"/>
            <a:ext cx="11451590" cy="2487930"/>
          </a:xfrm>
        </p:spPr>
        <p:txBody>
          <a:bodyPr>
            <a:normAutofit fontScale="90000"/>
          </a:bodyPr>
          <a:lstStyle/>
          <a:p>
            <a:pPr marL="182880" indent="0" algn="ctr">
              <a:buNone/>
            </a:pPr>
            <a:r>
              <a:rPr lang="en-US" sz="2700" b="1" dirty="0">
                <a:solidFill>
                  <a:srgbClr val="FF0000"/>
                </a:solidFill>
                <a:effectLst/>
              </a:rPr>
              <a:t>ANNAMACHARYA INSTITUTE OF TECHNOLOGY AND SCIENCES::TIRUPATI</a:t>
            </a:r>
            <a:br>
              <a:rPr lang="en-US" sz="2700" b="1" dirty="0">
                <a:solidFill>
                  <a:srgbClr val="FF0000"/>
                </a:solidFill>
                <a:effectLst/>
              </a:rPr>
            </a:br>
            <a:r>
              <a:rPr lang="en-IN" sz="2000" b="1" dirty="0">
                <a:solidFill>
                  <a:srgbClr val="FF0000"/>
                </a:solidFill>
                <a:effectLst/>
              </a:rPr>
              <a:t>(AUTONOMOUS)</a:t>
            </a:r>
            <a:br>
              <a:rPr lang="en-IN" sz="2000" b="1" dirty="0">
                <a:solidFill>
                  <a:srgbClr val="FF0000"/>
                </a:solidFill>
                <a:effectLst/>
              </a:rPr>
            </a:br>
            <a:r>
              <a:rPr lang="en-IN" sz="2400" b="1" dirty="0">
                <a:solidFill>
                  <a:srgbClr val="0033CC"/>
                </a:solidFill>
                <a:effectLst/>
              </a:rPr>
              <a:t>Computer Science and Engineering</a:t>
            </a:r>
            <a:br>
              <a:rPr lang="en-IN" sz="2000" dirty="0">
                <a:solidFill>
                  <a:srgbClr val="0033CC"/>
                </a:solidFill>
                <a:effectLst/>
              </a:rPr>
            </a:br>
            <a:r>
              <a:rPr lang="en-IN" sz="2400" dirty="0">
                <a:effectLst/>
                <a:latin typeface="Algerian" panose="04020705040A02060702" pitchFamily="82" charset="0"/>
              </a:rPr>
              <a:t>A.Y.: 2025-2026</a:t>
            </a:r>
            <a:br>
              <a:rPr lang="en-IN" sz="2700" b="1" dirty="0">
                <a:solidFill>
                  <a:schemeClr val="accent1">
                    <a:lumMod val="75000"/>
                  </a:schemeClr>
                </a:solidFill>
                <a:effectLst/>
              </a:rPr>
            </a:br>
            <a:r>
              <a:rPr lang="en-IN" sz="2665" dirty="0">
                <a:solidFill>
                  <a:schemeClr val="accent1">
                    <a:lumMod val="75000"/>
                  </a:schemeClr>
                </a:solidFill>
                <a:effectLst/>
                <a:latin typeface="Times New Roman" panose="02020603050405020304" pitchFamily="18" charset="0"/>
                <a:cs typeface="Times New Roman" panose="02020603050405020304" pitchFamily="18" charset="0"/>
                <a:sym typeface="+mn-ea"/>
              </a:rPr>
              <a:t>Final Review</a:t>
            </a:r>
            <a:br>
              <a:rPr lang="en-IN" sz="2665" dirty="0">
                <a:solidFill>
                  <a:schemeClr val="accent1">
                    <a:lumMod val="75000"/>
                  </a:schemeClr>
                </a:solidFill>
                <a:effectLst/>
                <a:latin typeface="Times New Roman" panose="02020603050405020304" pitchFamily="18" charset="0"/>
                <a:cs typeface="Times New Roman" panose="02020603050405020304" pitchFamily="18" charset="0"/>
                <a:sym typeface="+mn-ea"/>
              </a:rPr>
            </a:br>
            <a:br>
              <a:rPr lang="en-IN" sz="2665" dirty="0">
                <a:solidFill>
                  <a:schemeClr val="accent1">
                    <a:lumMod val="75000"/>
                  </a:schemeClr>
                </a:solidFill>
                <a:effectLst/>
                <a:latin typeface="Times New Roman" panose="02020603050405020304" pitchFamily="18" charset="0"/>
                <a:cs typeface="Times New Roman" panose="02020603050405020304" pitchFamily="18" charset="0"/>
                <a:sym typeface="+mn-ea"/>
              </a:rPr>
            </a:br>
            <a:r>
              <a:rPr lang="en-US" altLang="en-GB" sz="2400" b="1" dirty="0">
                <a:solidFill>
                  <a:srgbClr val="C00000"/>
                </a:solidFill>
                <a:effectLst/>
                <a:latin typeface="Arial Black" panose="020B0A04020102020204" pitchFamily="34" charset="0"/>
              </a:rPr>
              <a:t>AN AUTOMATED MACHINE LEARNING  APPROACH FOR MOBILE APP RATING ESTIMATION</a:t>
            </a:r>
            <a:endParaRPr lang="en-IN" sz="2400" dirty="0">
              <a:effectLst/>
            </a:endParaRPr>
          </a:p>
        </p:txBody>
      </p:sp>
      <p:sp>
        <p:nvSpPr>
          <p:cNvPr id="5" name="TextBox 4"/>
          <p:cNvSpPr txBox="1"/>
          <p:nvPr/>
        </p:nvSpPr>
        <p:spPr>
          <a:xfrm>
            <a:off x="2536985" y="4404705"/>
            <a:ext cx="6893886" cy="2306955"/>
          </a:xfrm>
          <a:prstGeom prst="rect">
            <a:avLst/>
          </a:prstGeom>
          <a:noFill/>
        </p:spPr>
        <p:txBody>
          <a:bodyPr wrap="square" rtlCol="0">
            <a:spAutoFit/>
          </a:bodyPr>
          <a:lstStyle/>
          <a:p>
            <a:r>
              <a:rPr lang="en-GB" sz="2000" b="1" dirty="0"/>
              <a:t>			</a:t>
            </a:r>
            <a:r>
              <a:rPr lang="en-GB" sz="2400" b="1" dirty="0">
                <a:solidFill>
                  <a:srgbClr val="660033"/>
                </a:solidFill>
              </a:rPr>
              <a:t>BATCH NO: 0</a:t>
            </a:r>
            <a:r>
              <a:rPr lang="en-US" altLang="en-GB" sz="2400" b="1" dirty="0">
                <a:solidFill>
                  <a:srgbClr val="660033"/>
                </a:solidFill>
              </a:rPr>
              <a:t>3</a:t>
            </a:r>
            <a:endParaRPr lang="en-GB" sz="2400" b="1" dirty="0">
              <a:solidFill>
                <a:srgbClr val="660033"/>
              </a:solidFill>
            </a:endParaRPr>
          </a:p>
          <a:p>
            <a:endParaRPr lang="en-GB" sz="2000" b="1" dirty="0"/>
          </a:p>
          <a:p>
            <a:pPr algn="just"/>
            <a:r>
              <a:rPr lang="en-US" sz="2000" b="1" dirty="0"/>
              <a:t>22AK1A0537  		            </a:t>
            </a:r>
            <a:r>
              <a:rPr lang="en-US" altLang="en-IN" sz="2000" b="1" dirty="0">
                <a:sym typeface="+mn-ea"/>
              </a:rPr>
              <a:t>GEETHANJALI G</a:t>
            </a:r>
            <a:endParaRPr lang="en-US" sz="2000" b="1" dirty="0"/>
          </a:p>
          <a:p>
            <a:pPr algn="just"/>
            <a:r>
              <a:rPr lang="en-US" sz="2000" b="1" dirty="0"/>
              <a:t>22AK1A0541		            HARSHITHA K</a:t>
            </a:r>
            <a:endParaRPr lang="en-US" sz="2000" b="1" dirty="0"/>
          </a:p>
          <a:p>
            <a:pPr algn="just"/>
            <a:r>
              <a:rPr lang="en-US" sz="2000" b="1" dirty="0"/>
              <a:t>22AK1A0509			      </a:t>
            </a:r>
            <a:r>
              <a:rPr lang="en-US" altLang="en-IN" sz="2000" b="1" dirty="0">
                <a:sym typeface="+mn-ea"/>
              </a:rPr>
              <a:t>ARSHIYA Y</a:t>
            </a:r>
            <a:endParaRPr lang="en-US" sz="2000" b="1" dirty="0"/>
          </a:p>
          <a:p>
            <a:pPr algn="just"/>
            <a:r>
              <a:rPr lang="en-US" sz="2000" b="1" dirty="0"/>
              <a:t>22AK1A0540			      HARSHA VARDHAN REDDY N</a:t>
            </a:r>
            <a:endParaRPr lang="en-US" sz="2000" b="1" dirty="0"/>
          </a:p>
          <a:p>
            <a:endParaRPr lang="en-IN" sz="2000" b="1" dirty="0"/>
          </a:p>
        </p:txBody>
      </p:sp>
      <p:sp>
        <p:nvSpPr>
          <p:cNvPr id="6" name="TextBox 5"/>
          <p:cNvSpPr txBox="1"/>
          <p:nvPr/>
        </p:nvSpPr>
        <p:spPr>
          <a:xfrm>
            <a:off x="207645" y="3150235"/>
            <a:ext cx="4864735" cy="1630045"/>
          </a:xfrm>
          <a:prstGeom prst="rect">
            <a:avLst/>
          </a:prstGeom>
          <a:noFill/>
        </p:spPr>
        <p:txBody>
          <a:bodyPr wrap="square" rtlCol="0">
            <a:spAutoFit/>
          </a:bodyPr>
          <a:lstStyle/>
          <a:p>
            <a:r>
              <a:rPr lang="en-GB" sz="2000" b="1" dirty="0">
                <a:solidFill>
                  <a:srgbClr val="FF0000"/>
                </a:solidFill>
              </a:rPr>
              <a:t>Under the Guidance of</a:t>
            </a:r>
            <a:endParaRPr lang="en-GB" sz="2000" b="1" dirty="0">
              <a:solidFill>
                <a:srgbClr val="FF0000"/>
              </a:solidFill>
            </a:endParaRPr>
          </a:p>
          <a:p>
            <a:r>
              <a:rPr lang="en-US" sz="2000" b="1" dirty="0" err="1">
                <a:solidFill>
                  <a:srgbClr val="0033CC"/>
                </a:solidFill>
                <a:latin typeface="Times New Roman" panose="02020603050405020304" pitchFamily="18" charset="0"/>
                <a:cs typeface="Times New Roman" panose="02020603050405020304" pitchFamily="18" charset="0"/>
                <a:sym typeface="+mn-ea"/>
              </a:rPr>
              <a:t>Ms</a:t>
            </a:r>
            <a:r>
              <a:rPr lang="en-US" sz="2000" b="1" dirty="0">
                <a:solidFill>
                  <a:srgbClr val="0033CC"/>
                </a:solidFill>
                <a:latin typeface="Times New Roman" panose="02020603050405020304" pitchFamily="18" charset="0"/>
                <a:cs typeface="Times New Roman" panose="02020603050405020304" pitchFamily="18" charset="0"/>
                <a:sym typeface="+mn-ea"/>
              </a:rPr>
              <a:t> V Bhargavi., </a:t>
            </a:r>
            <a:r>
              <a:rPr lang="en-US" sz="2000" b="1" dirty="0" err="1">
                <a:solidFill>
                  <a:srgbClr val="0033CC"/>
                </a:solidFill>
                <a:latin typeface="Times New Roman" panose="02020603050405020304" pitchFamily="18" charset="0"/>
                <a:cs typeface="Times New Roman" panose="02020603050405020304" pitchFamily="18" charset="0"/>
                <a:sym typeface="+mn-ea"/>
              </a:rPr>
              <a:t>M.Tech</a:t>
            </a:r>
            <a:endParaRPr lang="en-GB" sz="2000" b="1" dirty="0">
              <a:solidFill>
                <a:srgbClr val="0033CC"/>
              </a:solidFill>
            </a:endParaRPr>
          </a:p>
          <a:p>
            <a:r>
              <a:rPr lang="en-US" altLang="en-GB" sz="2000" b="1" dirty="0">
                <a:latin typeface="+mj-lt"/>
                <a:cs typeface="+mj-lt"/>
                <a:sym typeface="+mn-ea"/>
              </a:rPr>
              <a:t>Assistant </a:t>
            </a:r>
            <a:r>
              <a:rPr lang="en-GB" sz="2000" b="1" dirty="0">
                <a:latin typeface="+mj-lt"/>
                <a:cs typeface="+mj-lt"/>
                <a:sym typeface="+mn-ea"/>
              </a:rPr>
              <a:t>Professor</a:t>
            </a:r>
            <a:r>
              <a:rPr lang="en-GB" sz="2000" b="1" dirty="0"/>
              <a:t> </a:t>
            </a:r>
            <a:endParaRPr lang="en-GB" sz="2000" b="1" dirty="0"/>
          </a:p>
          <a:p>
            <a:r>
              <a:rPr lang="en-GB" sz="2000" b="1" dirty="0"/>
              <a:t>Department of CSE</a:t>
            </a:r>
            <a:endParaRPr lang="en-GB" sz="2000" b="1" dirty="0"/>
          </a:p>
          <a:p>
            <a:r>
              <a:rPr lang="en-GB" sz="2000" b="1" dirty="0"/>
              <a:t>AITS, Tirupati</a:t>
            </a:r>
            <a:endParaRPr lang="en-IN" sz="2000" b="1" dirty="0"/>
          </a:p>
        </p:txBody>
      </p:sp>
      <p:sp>
        <p:nvSpPr>
          <p:cNvPr id="7" name="TextBox 6"/>
          <p:cNvSpPr txBox="1"/>
          <p:nvPr/>
        </p:nvSpPr>
        <p:spPr>
          <a:xfrm>
            <a:off x="6485876" y="3011214"/>
            <a:ext cx="5299724" cy="1630045"/>
          </a:xfrm>
          <a:prstGeom prst="rect">
            <a:avLst/>
          </a:prstGeom>
          <a:noFill/>
        </p:spPr>
        <p:txBody>
          <a:bodyPr wrap="square" rtlCol="0">
            <a:spAutoFit/>
          </a:bodyPr>
          <a:lstStyle/>
          <a:p>
            <a:r>
              <a:rPr lang="en-GB" sz="2000" b="1" dirty="0">
                <a:solidFill>
                  <a:srgbClr val="FF0000"/>
                </a:solidFill>
              </a:rPr>
              <a:t>Head of the Department</a:t>
            </a:r>
            <a:endParaRPr lang="en-GB" sz="2000" b="1" dirty="0">
              <a:solidFill>
                <a:srgbClr val="FF0000"/>
              </a:solidFill>
            </a:endParaRPr>
          </a:p>
          <a:p>
            <a:r>
              <a:rPr lang="en-GB" sz="2000" b="1" dirty="0">
                <a:solidFill>
                  <a:srgbClr val="0033CC"/>
                </a:solidFill>
              </a:rPr>
              <a:t>Dr T </a:t>
            </a:r>
            <a:r>
              <a:rPr lang="en-GB" sz="2000" b="1" dirty="0" err="1">
                <a:solidFill>
                  <a:srgbClr val="0033CC"/>
                </a:solidFill>
              </a:rPr>
              <a:t>Sreenivasula</a:t>
            </a:r>
            <a:r>
              <a:rPr lang="en-GB" sz="2000" b="1" dirty="0">
                <a:solidFill>
                  <a:srgbClr val="0033CC"/>
                </a:solidFill>
              </a:rPr>
              <a:t> Reddy., </a:t>
            </a:r>
            <a:r>
              <a:rPr lang="en-GB" sz="2000" b="1" dirty="0" err="1">
                <a:solidFill>
                  <a:srgbClr val="0033CC"/>
                </a:solidFill>
              </a:rPr>
              <a:t>M.Tech</a:t>
            </a:r>
            <a:r>
              <a:rPr lang="en-GB" sz="2000" b="1" dirty="0">
                <a:solidFill>
                  <a:srgbClr val="0033CC"/>
                </a:solidFill>
              </a:rPr>
              <a:t>., </a:t>
            </a:r>
            <a:r>
              <a:rPr lang="en-GB" sz="2000" b="1" dirty="0" err="1">
                <a:solidFill>
                  <a:srgbClr val="0033CC"/>
                </a:solidFill>
              </a:rPr>
              <a:t>Ph.D</a:t>
            </a:r>
            <a:endParaRPr lang="en-GB" sz="2000" b="1" dirty="0">
              <a:solidFill>
                <a:srgbClr val="0033CC"/>
              </a:solidFill>
            </a:endParaRPr>
          </a:p>
          <a:p>
            <a:r>
              <a:rPr lang="en-GB" sz="2000" b="1" dirty="0"/>
              <a:t>Professor</a:t>
            </a:r>
            <a:r>
              <a:rPr lang="en-US" altLang="en-GB" sz="2000" b="1" dirty="0"/>
              <a:t> &amp; HOD</a:t>
            </a:r>
            <a:endParaRPr lang="en-GB" sz="2000" b="1" dirty="0"/>
          </a:p>
          <a:p>
            <a:r>
              <a:rPr lang="en-GB" sz="2000" b="1" dirty="0"/>
              <a:t>Department of CSE</a:t>
            </a:r>
            <a:endParaRPr lang="en-GB" sz="2000" b="1" dirty="0"/>
          </a:p>
          <a:p>
            <a:r>
              <a:rPr lang="en-GB" sz="2000" b="1" dirty="0"/>
              <a:t>AITS, Tirupati</a:t>
            </a:r>
            <a:endParaRPr lang="en-IN" sz="2000" b="1"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ABSTRACT</a:t>
            </a:r>
            <a:endParaRPr lang="en-IN" sz="3200" b="1" dirty="0">
              <a:solidFill>
                <a:srgbClr val="6666FF"/>
              </a:solidFill>
            </a:endParaRPr>
          </a:p>
        </p:txBody>
      </p:sp>
      <p:sp>
        <p:nvSpPr>
          <p:cNvPr id="3" name="Content Placeholder 2"/>
          <p:cNvSpPr>
            <a:spLocks noGrp="1"/>
          </p:cNvSpPr>
          <p:nvPr>
            <p:ph sz="quarter" idx="13"/>
          </p:nvPr>
        </p:nvSpPr>
        <p:spPr>
          <a:xfrm>
            <a:off x="1001489" y="1306286"/>
            <a:ext cx="10232571" cy="5021943"/>
          </a:xfrm>
          <a:prstGeom prst="rect">
            <a:avLst/>
          </a:prstGeom>
        </p:spPr>
        <p:txBody>
          <a:bodyPr>
            <a:normAutofit/>
          </a:bodyPr>
          <a:lstStyle/>
          <a:p>
            <a:pPr marL="45720" indent="0" algn="just">
              <a:lnSpc>
                <a:spcPct val="150000"/>
              </a:lnSpc>
              <a:spcAft>
                <a:spcPts val="1000"/>
              </a:spcAft>
              <a:buNone/>
            </a:pPr>
            <a:r>
              <a:rPr lang="en-US" sz="1800" dirty="0">
                <a:latin typeface="Times New Roman" panose="02020603050405020304" pitchFamily="18" charset="0"/>
                <a:cs typeface="Times New Roman" panose="02020603050405020304" pitchFamily="18" charset="0"/>
                <a:sym typeface="+mn-ea"/>
              </a:rPr>
              <a:t>Mobile applications receive millions of user reviews and ratings every day. Analyzing these ratings helps developers understand user satisfaction. This project focuses on building a machine learning model to forecast mobile app ratings based on historical data, user reviews, and app-related features. The system helps developers improve app quality and user experience.</a:t>
            </a:r>
            <a:r>
              <a:rPr sz="1800">
                <a:sym typeface="+mn-ea"/>
              </a:rPr>
              <a:t> </a:t>
            </a:r>
            <a:r>
              <a:rPr sz="1800">
                <a:latin typeface="Times New Roman" panose="02020603050405020304" pitchFamily="18" charset="0"/>
                <a:cs typeface="Times New Roman" panose="02020603050405020304" pitchFamily="18" charset="0"/>
                <a:sym typeface="+mn-ea"/>
              </a:rPr>
              <a:t>Mobile app ratings play a crucial role in influencing user decisions, developer success, and application visibility</a:t>
            </a:r>
            <a:r>
              <a:rPr lang="en-US" sz="1800">
                <a:latin typeface="Times New Roman" panose="02020603050405020304" pitchFamily="18" charset="0"/>
                <a:cs typeface="Times New Roman" panose="02020603050405020304" pitchFamily="18" charset="0"/>
                <a:sym typeface="+mn-ea"/>
              </a:rPr>
              <a:t>.</a:t>
            </a:r>
            <a:r>
              <a:rPr sz="1800">
                <a:latin typeface="Times New Roman" panose="02020603050405020304" pitchFamily="18" charset="0"/>
                <a:cs typeface="Times New Roman" panose="02020603050405020304" pitchFamily="18" charset="0"/>
                <a:sym typeface="+mn-ea"/>
              </a:rPr>
              <a:t>The Machine Learning Model for Forecasting the Rating of Mobile Apps focuses on predicting app ratings using advanced data-driven approaches. </a:t>
            </a:r>
            <a:endParaRPr sz="1800">
              <a:latin typeface="Times New Roman" panose="02020603050405020304" pitchFamily="18" charset="0"/>
              <a:cs typeface="Times New Roman" panose="02020603050405020304" pitchFamily="18" charset="0"/>
              <a:sym typeface="+mn-ea"/>
            </a:endParaRPr>
          </a:p>
          <a:p>
            <a:pPr marL="45720" indent="0" algn="just">
              <a:lnSpc>
                <a:spcPct val="150000"/>
              </a:lnSpc>
              <a:spcAft>
                <a:spcPts val="10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sym typeface="+mn-ea"/>
              </a:rPr>
              <a:t>Keywords : </a:t>
            </a:r>
            <a:r>
              <a:rPr lang="en-US" altLang="en-US" sz="1800" dirty="0">
                <a:effectLst/>
                <a:latin typeface="Times New Roman" panose="02020603050405020304" pitchFamily="18" charset="0"/>
                <a:ea typeface="Times New Roman" panose="02020603050405020304" pitchFamily="18" charset="0"/>
                <a:cs typeface="Times New Roman" panose="02020603050405020304" pitchFamily="18" charset="0"/>
                <a:sym typeface="+mn-ea"/>
              </a:rPr>
              <a:t>Mobile App Ratings | Machine Learning | Sentiment Analysis | NLP | Prediction | Data Analysis | User Satisfaction | Model Accuracy</a:t>
            </a:r>
            <a:endParaRPr lang="en-US" altLang="en-US" sz="1800" dirty="0">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DOMAIN INTRODUCTION</a:t>
            </a:r>
            <a:endParaRPr lang="en-IN" sz="3200" b="1" dirty="0">
              <a:solidFill>
                <a:srgbClr val="6666FF"/>
              </a:solidFill>
            </a:endParaRPr>
          </a:p>
        </p:txBody>
      </p:sp>
      <p:sp>
        <p:nvSpPr>
          <p:cNvPr id="3" name="Content Placeholder 2"/>
          <p:cNvSpPr>
            <a:spLocks noGrp="1"/>
          </p:cNvSpPr>
          <p:nvPr>
            <p:ph sz="quarter" idx="13"/>
          </p:nvPr>
        </p:nvSpPr>
        <p:spPr>
          <a:xfrm>
            <a:off x="1001395" y="1166495"/>
            <a:ext cx="10203815" cy="5221605"/>
          </a:xfrm>
          <a:prstGeom prst="rect">
            <a:avLst/>
          </a:prstGeom>
        </p:spPr>
        <p:txBody>
          <a:bodyPr>
            <a:normAutofit/>
          </a:bodyPr>
          <a:lstStyle/>
          <a:p>
            <a:pPr marL="4572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IN" sz="1600" b="1" dirty="0"/>
              <a:t>Data Integration and Processing</a:t>
            </a:r>
            <a:endParaRPr lang="en-IN" sz="1600" dirty="0"/>
          </a:p>
          <a:p>
            <a:pPr>
              <a:buFont typeface="Arial" panose="020B0604020202020204" pitchFamily="34" charset="0"/>
              <a:buChar char="•"/>
            </a:pPr>
            <a:r>
              <a:rPr lang="en-US" altLang="en-US" sz="1600" dirty="0"/>
              <a:t>Integrates data from multiple sources such as app metadata, numerical ratings, and user reviews, and performs cleaning, normalization, and feature extraction to ensure data quality.</a:t>
            </a:r>
            <a:endParaRPr lang="en-US" altLang="en-US" sz="1600" dirty="0"/>
          </a:p>
          <a:p>
            <a:pPr>
              <a:buFont typeface="Arial" panose="020B0604020202020204" pitchFamily="34" charset="0"/>
              <a:buChar char="•"/>
            </a:pPr>
            <a:r>
              <a:rPr lang="en-US" altLang="en-US" sz="1600" dirty="0"/>
              <a:t>Transforms raw and unstructured data into structured formats suitable for machine learning models, improving efficiency and prediction accuracy.</a:t>
            </a:r>
            <a:endParaRPr lang="en-US" altLang="en-US" sz="1600" dirty="0"/>
          </a:p>
          <a:p>
            <a:pPr>
              <a:buFont typeface="Wingdings" panose="05000000000000000000" pitchFamily="2" charset="2"/>
              <a:buChar char="ü"/>
            </a:pPr>
            <a:r>
              <a:rPr lang="en-US" sz="1600" b="1" dirty="0"/>
              <a:t>Machine Learning and Recommendation Techniques</a:t>
            </a:r>
            <a:endParaRPr lang="en-US" sz="1600" dirty="0"/>
          </a:p>
          <a:p>
            <a:pPr>
              <a:buFont typeface="Arial" panose="020B0604020202020204" pitchFamily="34" charset="0"/>
              <a:buChar char="•"/>
            </a:pPr>
            <a:r>
              <a:rPr lang="en-US" altLang="en-US" sz="1600" dirty="0"/>
              <a:t>Applies supervised machine learning algorithms to learn patterns from historical app data and forecast future app ratings accurately.</a:t>
            </a:r>
            <a:endParaRPr lang="en-US" altLang="en-US" sz="1600" dirty="0"/>
          </a:p>
          <a:p>
            <a:pPr>
              <a:buFont typeface="Arial" panose="020B0604020202020204" pitchFamily="34" charset="0"/>
              <a:buChar char="•"/>
            </a:pPr>
            <a:r>
              <a:rPr lang="en-US" altLang="en-US" sz="1600" dirty="0"/>
              <a:t>Uses recommendation techniques to suggest relevant mobile applications to users based on predicted ratings and user preferences.</a:t>
            </a:r>
            <a:endParaRPr lang="en-US" altLang="en-US" sz="1600" dirty="0"/>
          </a:p>
          <a:p>
            <a:pPr>
              <a:buFont typeface="Wingdings" panose="05000000000000000000" pitchFamily="2" charset="2"/>
              <a:buChar char="ü"/>
            </a:pPr>
            <a:r>
              <a:rPr lang="en-US" sz="1600" b="1" dirty="0"/>
              <a:t>Natural Language Processing (NLP)</a:t>
            </a:r>
            <a:endParaRPr lang="en-US" sz="1600" dirty="0"/>
          </a:p>
          <a:p>
            <a:pPr>
              <a:buFont typeface="Arial" panose="020B0604020202020204" pitchFamily="34" charset="0"/>
              <a:buChar char="•"/>
            </a:pPr>
            <a:r>
              <a:rPr lang="en-US" altLang="en-US" sz="1600" dirty="0"/>
              <a:t>Analyzes textual user reviews using sentiment analysis and feature extraction techniques to capture user opinions and emotions.</a:t>
            </a:r>
            <a:endParaRPr lang="en-US" altLang="en-US" sz="1600" dirty="0"/>
          </a:p>
          <a:p>
            <a:pPr>
              <a:buFont typeface="Arial" panose="020B0604020202020204" pitchFamily="34" charset="0"/>
              <a:buChar char="•"/>
            </a:pPr>
            <a:r>
              <a:rPr lang="en-US" altLang="en-US" sz="1600" dirty="0"/>
              <a:t>Converts unstructured review text into numerical representations that enhance rating prediction models when combined with machine learning.</a:t>
            </a:r>
            <a:endParaRPr lang="en-US" altLang="en-US" sz="1600"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US" sz="3200" dirty="0">
                <a:solidFill>
                  <a:srgbClr val="6666FF"/>
                </a:solidFill>
              </a:rPr>
              <a:t>EXISTING</a:t>
            </a:r>
            <a:r>
              <a:rPr lang="en-US" sz="3200" b="1" dirty="0">
                <a:solidFill>
                  <a:srgbClr val="6666FF"/>
                </a:solidFill>
              </a:rPr>
              <a:t> SYSTEM</a:t>
            </a:r>
            <a:endParaRPr lang="en-IN" sz="3200" b="1" dirty="0">
              <a:solidFill>
                <a:srgbClr val="6666FF"/>
              </a:solidFill>
            </a:endParaRPr>
          </a:p>
        </p:txBody>
      </p:sp>
      <p:sp>
        <p:nvSpPr>
          <p:cNvPr id="3" name="Content Placeholder 2"/>
          <p:cNvSpPr>
            <a:spLocks noGrp="1"/>
          </p:cNvSpPr>
          <p:nvPr>
            <p:ph sz="quarter" idx="13"/>
          </p:nvPr>
        </p:nvSpPr>
        <p:spPr>
          <a:xfrm>
            <a:off x="233081" y="1631576"/>
            <a:ext cx="11761695" cy="4840941"/>
          </a:xfrm>
          <a:prstGeom prst="rect">
            <a:avLst/>
          </a:prstGeom>
        </p:spPr>
        <p:txBody>
          <a:bodyPr>
            <a:normAutofit/>
          </a:bodyPr>
          <a:lstStyle/>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Existing systems rely on basic statistical analysis or manual review monitoring.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Developers analyze average ratings and user feedback manually. </a:t>
            </a:r>
            <a:endParaRPr lang="en-US" sz="1800" dirty="0">
              <a:latin typeface="Times New Roman" panose="02020603050405020304" pitchFamily="18" charset="0"/>
              <a:cs typeface="Times New Roman" panose="02020603050405020304" pitchFamily="18" charset="0"/>
              <a:sym typeface="+mn-ea"/>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 These approaches are time-consuming and do not accurately predict future ratings.</a:t>
            </a:r>
            <a:endParaRPr lang="en-US" sz="1800" b="1" dirty="0"/>
          </a:p>
          <a:p>
            <a:pPr marL="342900" indent="-342900" algn="just">
              <a:lnSpc>
                <a:spcPct val="150000"/>
              </a:lnSpc>
              <a:buFont typeface="Wingdings" panose="05000000000000000000" pitchFamily="2" charset="2"/>
              <a:buChar char="ü"/>
            </a:pPr>
            <a:r>
              <a:rPr sz="1800">
                <a:latin typeface="Times New Roman" panose="02020603050405020304" pitchFamily="18" charset="0"/>
                <a:cs typeface="Times New Roman" panose="02020603050405020304" pitchFamily="18" charset="0"/>
                <a:sym typeface="+mn-ea"/>
              </a:rPr>
              <a:t>Mobile app ratings play a crucial role in influencing user decisions, developer success, and application visibility.</a:t>
            </a:r>
            <a:endParaRPr lang="en-US" sz="1800" dirty="0">
              <a:latin typeface="Times New Roman" panose="02020603050405020304" pitchFamily="18" charset="0"/>
              <a:cs typeface="Times New Roman" panose="02020603050405020304" pitchFamily="18" charset="0"/>
            </a:endParaRPr>
          </a:p>
          <a:p>
            <a:pPr marL="0" indent="0" algn="just">
              <a:lnSpc>
                <a:spcPct val="150000"/>
              </a:lnSpc>
              <a:buFont typeface="Wingdings" panose="05000000000000000000" pitchFamily="2" charset="2"/>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US" sz="3200" dirty="0">
                <a:solidFill>
                  <a:srgbClr val="6666FF"/>
                </a:solidFill>
              </a:rPr>
              <a:t>EXISTING</a:t>
            </a:r>
            <a:r>
              <a:rPr lang="en-US" sz="3200" b="1" dirty="0">
                <a:solidFill>
                  <a:srgbClr val="6666FF"/>
                </a:solidFill>
              </a:rPr>
              <a:t> SYSTEM-DISADVANTAGES</a:t>
            </a:r>
            <a:endParaRPr lang="en-IN" sz="3200" b="1" dirty="0">
              <a:solidFill>
                <a:srgbClr val="6666FF"/>
              </a:solidFill>
            </a:endParaRPr>
          </a:p>
        </p:txBody>
      </p:sp>
      <p:sp>
        <p:nvSpPr>
          <p:cNvPr id="3" name="Content Placeholder 2"/>
          <p:cNvSpPr>
            <a:spLocks noGrp="1"/>
          </p:cNvSpPr>
          <p:nvPr>
            <p:ph sz="quarter" idx="13"/>
          </p:nvPr>
        </p:nvSpPr>
        <p:spPr>
          <a:xfrm>
            <a:off x="233081" y="1631576"/>
            <a:ext cx="11761695" cy="4840941"/>
          </a:xfrm>
          <a:prstGeom prst="rect">
            <a:avLst/>
          </a:prstGeom>
        </p:spPr>
        <p:txBody>
          <a:bodyPr>
            <a:noAutofit/>
          </a:bodyPr>
          <a:lstStyle/>
          <a:p>
            <a:pPr marL="342900" indent="-342900" algn="just">
              <a:lnSpc>
                <a:spcPct val="150000"/>
              </a:lnSpc>
              <a:buFont typeface="Wingdings" panose="05000000000000000000" pitchFamily="2" charset="2"/>
              <a:buChar char="ü"/>
            </a:pPr>
            <a:r>
              <a:rPr lang="en-US"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sym typeface="+mn-ea"/>
              </a:rPr>
              <a:t>Low prediction accuracy.</a:t>
            </a:r>
            <a:endParaRPr lang="en-US" sz="15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500" dirty="0">
                <a:latin typeface="Times New Roman" panose="02020603050405020304" pitchFamily="18" charset="0"/>
                <a:cs typeface="Times New Roman" panose="02020603050405020304" pitchFamily="18" charset="0"/>
              </a:rPr>
              <a:t> Manual analysis of app ratings and reviews is time-consuming</a:t>
            </a:r>
            <a:endParaRPr lang="en-US" altLang="en-US" sz="15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500" dirty="0">
                <a:latin typeface="Times New Roman" panose="02020603050405020304" pitchFamily="18" charset="0"/>
                <a:cs typeface="Times New Roman" panose="02020603050405020304" pitchFamily="18" charset="0"/>
              </a:rPr>
              <a:t> No capability to predict future app ratings</a:t>
            </a:r>
            <a:endParaRPr lang="en-US" altLang="en-US" sz="15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500" dirty="0">
                <a:latin typeface="Times New Roman" panose="02020603050405020304" pitchFamily="18" charset="0"/>
                <a:cs typeface="Times New Roman" panose="02020603050405020304" pitchFamily="18" charset="0"/>
              </a:rPr>
              <a:t> Low accuracy due to use of basic statistical methods</a:t>
            </a:r>
            <a:endParaRPr lang="en-US" altLang="en-US" sz="15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500" dirty="0">
                <a:latin typeface="Times New Roman" panose="02020603050405020304" pitchFamily="18" charset="0"/>
                <a:cs typeface="Times New Roman" panose="02020603050405020304" pitchFamily="18" charset="0"/>
              </a:rPr>
              <a:t> User reviews are not fully utilized for sentiment analysis</a:t>
            </a:r>
            <a:endParaRPr lang="en-US" altLang="en-US" sz="15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500" dirty="0">
                <a:latin typeface="Times New Roman" panose="02020603050405020304" pitchFamily="18" charset="0"/>
                <a:cs typeface="Times New Roman" panose="02020603050405020304" pitchFamily="18" charset="0"/>
              </a:rPr>
              <a:t> Difficult to handle large volumes of app data</a:t>
            </a:r>
            <a:endParaRPr lang="en-US" altLang="en-US" sz="15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500" dirty="0">
                <a:latin typeface="Times New Roman" panose="02020603050405020304" pitchFamily="18" charset="0"/>
                <a:cs typeface="Times New Roman" panose="02020603050405020304" pitchFamily="18" charset="0"/>
              </a:rPr>
              <a:t> Lack of real-time analysis and updates</a:t>
            </a:r>
            <a:endParaRPr lang="en-US" altLang="en-US" sz="15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500" dirty="0">
                <a:latin typeface="Times New Roman" panose="02020603050405020304" pitchFamily="18" charset="0"/>
                <a:cs typeface="Times New Roman" panose="02020603050405020304" pitchFamily="18" charset="0"/>
              </a:rPr>
              <a:t> Does not consider user preferences or behavior</a:t>
            </a:r>
            <a:endParaRPr lang="en-US" altLang="en-US" sz="15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500" dirty="0">
                <a:latin typeface="Times New Roman" panose="02020603050405020304" pitchFamily="18" charset="0"/>
                <a:cs typeface="Times New Roman" panose="02020603050405020304" pitchFamily="18" charset="0"/>
              </a:rPr>
              <a:t> Limited support for decision making by developers</a:t>
            </a:r>
            <a:endParaRPr lang="en-US" altLang="en-US" sz="15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500" dirty="0">
                <a:latin typeface="Times New Roman" panose="02020603050405020304" pitchFamily="18" charset="0"/>
                <a:cs typeface="Times New Roman" panose="02020603050405020304" pitchFamily="18" charset="0"/>
              </a:rPr>
              <a:t> Presence of noisy data like fake or spam reviews reduces reliability</a:t>
            </a:r>
            <a:endParaRPr lang="en-US" altLang="en-US" sz="15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500" dirty="0">
                <a:latin typeface="Times New Roman" panose="02020603050405020304" pitchFamily="18" charset="0"/>
                <a:cs typeface="Times New Roman" panose="02020603050405020304" pitchFamily="18" charset="0"/>
              </a:rPr>
              <a:t> Poor scalability with increasing data size</a:t>
            </a:r>
            <a:endParaRPr lang="en-US" sz="1500" dirty="0">
              <a:latin typeface="Times New Roman" panose="02020603050405020304" pitchFamily="18" charset="0"/>
              <a:cs typeface="Times New Roman" panose="02020603050405020304" pitchFamily="18" charset="0"/>
            </a:endParaRPr>
          </a:p>
          <a:p>
            <a:pPr marL="0" indent="0" algn="just">
              <a:lnSpc>
                <a:spcPct val="150000"/>
              </a:lnSpc>
              <a:buFont typeface="Wingdings" panose="05000000000000000000" pitchFamily="2" charset="2"/>
              <a:buNone/>
            </a:pPr>
            <a:endParaRPr lang="en-US" sz="10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99665" y="386080"/>
            <a:ext cx="6874510" cy="1380490"/>
          </a:xfrm>
        </p:spPr>
        <p:txBody>
          <a:bodyPr/>
          <a:p>
            <a:pPr marL="0" indent="0" algn="ctr">
              <a:buNone/>
            </a:pPr>
            <a:r>
              <a:rPr lang="en-US" sz="3200">
                <a:solidFill>
                  <a:schemeClr val="accent1"/>
                </a:solidFill>
              </a:rPr>
              <a:t>LITERATURE SURVEY</a:t>
            </a:r>
            <a:endParaRPr lang="en-US" sz="3200">
              <a:solidFill>
                <a:schemeClr val="accent1"/>
              </a:solidFill>
            </a:endParaRPr>
          </a:p>
        </p:txBody>
      </p:sp>
      <p:graphicFrame>
        <p:nvGraphicFramePr>
          <p:cNvPr id="7" name="Table 6"/>
          <p:cNvGraphicFramePr/>
          <p:nvPr>
            <p:custDataLst>
              <p:tags r:id="rId1"/>
            </p:custDataLst>
          </p:nvPr>
        </p:nvGraphicFramePr>
        <p:xfrm>
          <a:off x="758825" y="1430655"/>
          <a:ext cx="10683240" cy="4558665"/>
        </p:xfrm>
        <a:graphic>
          <a:graphicData uri="http://schemas.openxmlformats.org/drawingml/2006/table">
            <a:tbl>
              <a:tblPr firstRow="1" bandRow="1">
                <a:tableStyleId>{5C22544A-7EE6-4342-B048-85BDC9FD1C3A}</a:tableStyleId>
              </a:tblPr>
              <a:tblGrid>
                <a:gridCol w="871855"/>
                <a:gridCol w="2320290"/>
                <a:gridCol w="2341880"/>
                <a:gridCol w="2169160"/>
                <a:gridCol w="1195705"/>
                <a:gridCol w="1784350"/>
              </a:tblGrid>
              <a:tr h="1367155">
                <a:tc>
                  <a:txBody>
                    <a:bodyPr/>
                    <a:p>
                      <a:pPr algn="ctr">
                        <a:buNone/>
                      </a:pPr>
                      <a:r>
                        <a:rPr lang="en-US"/>
                        <a:t>S.No</a:t>
                      </a:r>
                      <a:endParaRPr lang="en-US"/>
                    </a:p>
                  </a:txBody>
                  <a:tcPr/>
                </a:tc>
                <a:tc>
                  <a:txBody>
                    <a:bodyPr/>
                    <a:p>
                      <a:pPr algn="ctr">
                        <a:buNone/>
                      </a:pPr>
                      <a:r>
                        <a:rPr lang="en-US" altLang="en-US"/>
                        <a:t>Title of the Paper</a:t>
                      </a:r>
                      <a:endParaRPr lang="en-US" altLang="en-US"/>
                    </a:p>
                  </a:txBody>
                  <a:tcPr/>
                </a:tc>
                <a:tc>
                  <a:txBody>
                    <a:bodyPr/>
                    <a:p>
                      <a:pPr algn="ctr">
                        <a:buNone/>
                      </a:pPr>
                      <a:r>
                        <a:rPr lang="en-US" altLang="en-US"/>
                        <a:t>Problem Statement</a:t>
                      </a:r>
                      <a:endParaRPr lang="en-US" altLang="en-US"/>
                    </a:p>
                  </a:txBody>
                  <a:tcPr/>
                </a:tc>
                <a:tc>
                  <a:txBody>
                    <a:bodyPr/>
                    <a:p>
                      <a:pPr algn="ctr">
                        <a:buNone/>
                      </a:pPr>
                      <a:r>
                        <a:rPr lang="en-US" altLang="en-US"/>
                        <a:t>Method / Algorithm Used</a:t>
                      </a:r>
                      <a:endParaRPr lang="en-US" altLang="en-US"/>
                    </a:p>
                  </a:txBody>
                  <a:tcPr/>
                </a:tc>
                <a:tc>
                  <a:txBody>
                    <a:bodyPr/>
                    <a:p>
                      <a:pPr algn="ctr">
                        <a:buNone/>
                      </a:pPr>
                      <a:r>
                        <a:rPr lang="en-US"/>
                        <a:t>Year</a:t>
                      </a:r>
                      <a:endParaRPr lang="en-US"/>
                    </a:p>
                  </a:txBody>
                  <a:tcPr/>
                </a:tc>
                <a:tc>
                  <a:txBody>
                    <a:bodyPr/>
                    <a:p>
                      <a:pPr algn="ctr">
                        <a:buNone/>
                      </a:pPr>
                      <a:r>
                        <a:rPr lang="en-US" altLang="en-US"/>
                        <a:t>Author(s)</a:t>
                      </a:r>
                      <a:endParaRPr lang="en-US" altLang="en-US"/>
                    </a:p>
                  </a:txBody>
                  <a:tcPr/>
                </a:tc>
              </a:tr>
              <a:tr h="1595755">
                <a:tc>
                  <a:txBody>
                    <a:bodyPr/>
                    <a:p>
                      <a:pPr algn="ctr">
                        <a:buNone/>
                      </a:pPr>
                      <a:r>
                        <a:rPr lang="en-US" sz="1600">
                          <a:latin typeface="Times New Roman" panose="02020603050405020304" pitchFamily="18" charset="0"/>
                          <a:cs typeface="Times New Roman" panose="02020603050405020304" pitchFamily="18" charset="0"/>
                        </a:rPr>
                        <a:t>1.</a:t>
                      </a:r>
                      <a:endParaRPr 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Rating Prediction of Google Play Store Apps with Application of Data Mining Techniques</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Traditional methods fail to accurately predict app ratings from large and complex datasets</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Data mining techniques, classification and regression models</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sz="1600">
                          <a:latin typeface="Times New Roman" panose="02020603050405020304" pitchFamily="18" charset="0"/>
                          <a:cs typeface="Times New Roman" panose="02020603050405020304" pitchFamily="18" charset="0"/>
                        </a:rPr>
                        <a:t>2021</a:t>
                      </a:r>
                      <a:endParaRPr 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R. Gomes da Silva, J. de Oliveira Liberato Magalhães, I. R. Rodrigues Silva et al.</a:t>
                      </a:r>
                      <a:endParaRPr lang="en-US" altLang="en-US" sz="1600">
                        <a:latin typeface="Times New Roman" panose="02020603050405020304" pitchFamily="18" charset="0"/>
                        <a:cs typeface="Times New Roman" panose="02020603050405020304" pitchFamily="18" charset="0"/>
                      </a:endParaRPr>
                    </a:p>
                  </a:txBody>
                  <a:tcPr/>
                </a:tc>
              </a:tr>
              <a:tr h="1595755">
                <a:tc>
                  <a:txBody>
                    <a:bodyPr/>
                    <a:p>
                      <a:pPr algn="ctr">
                        <a:buNone/>
                      </a:pPr>
                      <a:r>
                        <a:rPr lang="en-US" sz="1600">
                          <a:latin typeface="Times New Roman" panose="02020603050405020304" pitchFamily="18" charset="0"/>
                          <a:cs typeface="Times New Roman" panose="02020603050405020304" pitchFamily="18" charset="0"/>
                        </a:rPr>
                        <a:t>2.</a:t>
                      </a:r>
                      <a:endParaRPr 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Analysis and Development of IoT-based Monitoring System</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Difficulty in analyzing large-scale data efficiently using conventional approaches</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Machine learning models with data preprocessing techniques</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sz="1600">
                          <a:latin typeface="Times New Roman" panose="02020603050405020304" pitchFamily="18" charset="0"/>
                          <a:cs typeface="Times New Roman" panose="02020603050405020304" pitchFamily="18" charset="0"/>
                        </a:rPr>
                        <a:t>2022</a:t>
                      </a:r>
                      <a:endParaRPr 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N. Z. Zamzari, M. Kassim, M. Yusoff</a:t>
                      </a:r>
                      <a:endParaRPr lang="en-US" altLang="en-US" sz="160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 name="Table 8"/>
          <p:cNvGraphicFramePr/>
          <p:nvPr>
            <p:custDataLst>
              <p:tags r:id="rId1"/>
            </p:custDataLst>
          </p:nvPr>
        </p:nvGraphicFramePr>
        <p:xfrm>
          <a:off x="1070610" y="1328420"/>
          <a:ext cx="10104120" cy="4015740"/>
        </p:xfrm>
        <a:graphic>
          <a:graphicData uri="http://schemas.openxmlformats.org/drawingml/2006/table">
            <a:tbl>
              <a:tblPr firstRow="1" bandRow="1">
                <a:tableStyleId>{5C22544A-7EE6-4342-B048-85BDC9FD1C3A}</a:tableStyleId>
              </a:tblPr>
              <a:tblGrid>
                <a:gridCol w="851535"/>
                <a:gridCol w="2086610"/>
                <a:gridCol w="2113915"/>
                <a:gridCol w="2050415"/>
                <a:gridCol w="1097915"/>
                <a:gridCol w="1903730"/>
              </a:tblGrid>
              <a:tr h="2007870">
                <a:tc>
                  <a:txBody>
                    <a:bodyPr/>
                    <a:p>
                      <a:pPr algn="l">
                        <a:buNone/>
                      </a:pPr>
                      <a:r>
                        <a:rPr lang="en-US" sz="1600">
                          <a:latin typeface="Times New Roman" panose="02020603050405020304" pitchFamily="18" charset="0"/>
                          <a:cs typeface="Times New Roman" panose="02020603050405020304" pitchFamily="18" charset="0"/>
                        </a:rPr>
                        <a:t>3.</a:t>
                      </a:r>
                      <a:endParaRPr 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A Study on Performance of Machine Learning Algorithms</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Selecting the most accurate ML algorithm for prediction problems</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KNN, Random Forest, SVM, Regression algorithms</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sz="1600">
                          <a:latin typeface="Times New Roman" panose="02020603050405020304" pitchFamily="18" charset="0"/>
                          <a:cs typeface="Times New Roman" panose="02020603050405020304" pitchFamily="18" charset="0"/>
                        </a:rPr>
                        <a:t>2023</a:t>
                      </a:r>
                      <a:endParaRPr 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P. Rawat, M. Bajaj, P. Prerna et al.</a:t>
                      </a:r>
                      <a:endParaRPr lang="en-US" altLang="en-US" sz="1600">
                        <a:latin typeface="Times New Roman" panose="02020603050405020304" pitchFamily="18" charset="0"/>
                        <a:cs typeface="Times New Roman" panose="02020603050405020304" pitchFamily="18" charset="0"/>
                      </a:endParaRPr>
                    </a:p>
                  </a:txBody>
                  <a:tcPr/>
                </a:tc>
              </a:tr>
              <a:tr h="2007870">
                <a:tc>
                  <a:txBody>
                    <a:bodyPr/>
                    <a:p>
                      <a:pPr algn="l">
                        <a:buNone/>
                      </a:pPr>
                      <a:r>
                        <a:rPr lang="en-US" sz="1600">
                          <a:latin typeface="Times New Roman" panose="02020603050405020304" pitchFamily="18" charset="0"/>
                          <a:cs typeface="Times New Roman" panose="02020603050405020304" pitchFamily="18" charset="0"/>
                        </a:rPr>
                        <a:t>4.</a:t>
                      </a:r>
                      <a:endParaRPr 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Prototype of Intelligent Tracking System Using Machine Learning</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Inefficient prediction and tracking due to lack of intelligent models</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Feature extraction and supervised machine learning</a:t>
                      </a:r>
                      <a:endParaRPr lang="en-US" altLang="en-US" sz="1600">
                        <a:latin typeface="Times New Roman" panose="02020603050405020304" pitchFamily="18" charset="0"/>
                        <a:cs typeface="Times New Roman" panose="02020603050405020304" pitchFamily="18" charset="0"/>
                      </a:endParaRPr>
                    </a:p>
                  </a:txBody>
                  <a:tcPr/>
                </a:tc>
                <a:tc>
                  <a:txBody>
                    <a:bodyPr/>
                    <a:p>
                      <a:pPr algn="l">
                        <a:buNone/>
                      </a:pPr>
                      <a:r>
                        <a:rPr lang="en-US" sz="1600">
                          <a:latin typeface="Times New Roman" panose="02020603050405020304" pitchFamily="18" charset="0"/>
                          <a:cs typeface="Times New Roman" panose="02020603050405020304" pitchFamily="18" charset="0"/>
                        </a:rPr>
                        <a:t>2021</a:t>
                      </a:r>
                      <a:endParaRPr lang="en-US" sz="1600">
                        <a:latin typeface="Times New Roman" panose="02020603050405020304" pitchFamily="18" charset="0"/>
                        <a:cs typeface="Times New Roman" panose="02020603050405020304" pitchFamily="18" charset="0"/>
                      </a:endParaRPr>
                    </a:p>
                  </a:txBody>
                  <a:tcPr/>
                </a:tc>
                <a:tc>
                  <a:txBody>
                    <a:bodyPr/>
                    <a:p>
                      <a:pPr algn="l">
                        <a:buNone/>
                      </a:pPr>
                      <a:r>
                        <a:rPr lang="en-US" altLang="en-US" sz="1600">
                          <a:latin typeface="Times New Roman" panose="02020603050405020304" pitchFamily="18" charset="0"/>
                          <a:cs typeface="Times New Roman" panose="02020603050405020304" pitchFamily="18" charset="0"/>
                        </a:rPr>
                        <a:t>O. Khattab, A. Almetlaqem, D. Almutairi et al.</a:t>
                      </a:r>
                      <a:endParaRPr lang="en-US" altLang="en-US" sz="160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US" sz="3200" b="1" dirty="0">
                <a:solidFill>
                  <a:srgbClr val="6666FF"/>
                </a:solidFill>
              </a:rPr>
              <a:t>PROPOSED SYSTEM</a:t>
            </a:r>
            <a:endParaRPr lang="en-IN" sz="3200" b="1" dirty="0">
              <a:solidFill>
                <a:srgbClr val="6666FF"/>
              </a:solidFill>
            </a:endParaRPr>
          </a:p>
        </p:txBody>
      </p:sp>
      <p:sp>
        <p:nvSpPr>
          <p:cNvPr id="3" name="Content Placeholder 2"/>
          <p:cNvSpPr>
            <a:spLocks noGrp="1"/>
          </p:cNvSpPr>
          <p:nvPr>
            <p:ph sz="quarter" idx="13"/>
          </p:nvPr>
        </p:nvSpPr>
        <p:spPr>
          <a:xfrm>
            <a:off x="233045" y="1492250"/>
            <a:ext cx="11761470" cy="5058410"/>
          </a:xfrm>
          <a:prstGeom prst="rect">
            <a:avLst/>
          </a:prstGeom>
        </p:spPr>
        <p:txBody>
          <a:bodyPr>
            <a:normAutofit/>
          </a:bodyPr>
          <a:lstStyle/>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The paper proposes a machine learning approach for forecasting app ratings on the Google Play Store. Key aspects include:</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Classification of data according to </a:t>
            </a:r>
            <a:r>
              <a:rPr lang="en-US" sz="1800" b="1" dirty="0">
                <a:latin typeface="Times New Roman" panose="02020603050405020304" pitchFamily="18" charset="0"/>
                <a:cs typeface="Times New Roman" panose="02020603050405020304" pitchFamily="18" charset="0"/>
                <a:sym typeface="+mn-ea"/>
              </a:rPr>
              <a:t>Google Play apps</a:t>
            </a:r>
            <a:r>
              <a:rPr lang="en-US" sz="1800" dirty="0">
                <a:latin typeface="Times New Roman" panose="02020603050405020304" pitchFamily="18" charset="0"/>
                <a:cs typeface="Times New Roman" panose="02020603050405020304" pitchFamily="18" charset="0"/>
                <a:sym typeface="+mn-ea"/>
              </a:rPr>
              <a:t> to improve accuracy.</a:t>
            </a:r>
            <a:endParaRPr lang="en-US" sz="1800" dirty="0">
              <a:latin typeface="Times New Roman" panose="02020603050405020304" pitchFamily="18" charset="0"/>
              <a:cs typeface="Times New Roman" panose="02020603050405020304" pitchFamily="18" charset="0"/>
              <a:sym typeface="+mn-ea"/>
            </a:endParaRPr>
          </a:p>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Handling of large datasets with semi-structured or unstructured data.</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Vectorial representation of textual data for machine learning.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Use of regression techniques, specifically KNN (K-Nearest Neighbors)  and Random Forest.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Performance evaluation using metrics like accuracy, MAE (Mean Absolute Error), RMSE (Root Mean Square Error), and R2-Score.</a:t>
            </a:r>
            <a:endParaRPr lang="en-IN"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US" sz="3200" b="1" dirty="0">
                <a:solidFill>
                  <a:srgbClr val="6666FF"/>
                </a:solidFill>
              </a:rPr>
              <a:t>PROPOSED SYSTEM-ADVANTAGES</a:t>
            </a:r>
            <a:endParaRPr lang="en-IN" sz="3200" b="1" dirty="0">
              <a:solidFill>
                <a:srgbClr val="6666FF"/>
              </a:solidFill>
            </a:endParaRPr>
          </a:p>
        </p:txBody>
      </p:sp>
      <p:sp>
        <p:nvSpPr>
          <p:cNvPr id="3" name="Content Placeholder 2"/>
          <p:cNvSpPr>
            <a:spLocks noGrp="1"/>
          </p:cNvSpPr>
          <p:nvPr>
            <p:ph sz="quarter" idx="13"/>
          </p:nvPr>
        </p:nvSpPr>
        <p:spPr>
          <a:xfrm>
            <a:off x="233081" y="1631576"/>
            <a:ext cx="11761695" cy="4840941"/>
          </a:xfrm>
          <a:prstGeom prst="rect">
            <a:avLst/>
          </a:prstGeom>
        </p:spPr>
        <p:txBody>
          <a:bodyPr>
            <a:normAutofit/>
          </a:bodyPr>
          <a:lstStyle/>
          <a:p>
            <a:pPr marL="342900" indent="-342900" algn="just">
              <a:lnSpc>
                <a:spcPct val="150000"/>
              </a:lnSpc>
              <a:buFont typeface="Wingdings" panose="05000000000000000000" pitchFamily="2" charset="2"/>
              <a:buChar char="ü"/>
            </a:pPr>
            <a:r>
              <a:rPr lang="en-US" altLang="en-US" sz="1800" dirty="0">
                <a:latin typeface="Times New Roman" panose="02020603050405020304" pitchFamily="18" charset="0"/>
                <a:cs typeface="Times New Roman" panose="02020603050405020304" pitchFamily="18" charset="0"/>
              </a:rPr>
              <a:t>Classifying Google Play apps by category improves the accuracy of app rating prediction.</a:t>
            </a:r>
            <a:endParaRPr lang="en-US" alt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800" dirty="0">
                <a:latin typeface="Times New Roman" panose="02020603050405020304" pitchFamily="18" charset="0"/>
                <a:cs typeface="Times New Roman" panose="02020603050405020304" pitchFamily="18" charset="0"/>
              </a:rPr>
              <a:t>The system efficiently handles large datasets containing semi-structured and unstructured data.</a:t>
            </a:r>
            <a:endParaRPr lang="en-US" alt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800" dirty="0">
                <a:latin typeface="Times New Roman" panose="02020603050405020304" pitchFamily="18" charset="0"/>
                <a:cs typeface="Times New Roman" panose="02020603050405020304" pitchFamily="18" charset="0"/>
              </a:rPr>
              <a:t>Vectorial representation of textual reviews enhances the learning capability of machine learning model</a:t>
            </a:r>
            <a:endParaRPr lang="en-US" alt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altLang="en-US" sz="1800" dirty="0">
                <a:latin typeface="Times New Roman" panose="02020603050405020304" pitchFamily="18" charset="0"/>
                <a:cs typeface="Times New Roman" panose="02020603050405020304" pitchFamily="18" charset="0"/>
              </a:rPr>
              <a:t>Use of KNN and Random Forest with MAE, RMSE, and R² metrics ensures reliable and accurate performance evaluation.</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US" sz="3200" b="1" dirty="0">
                <a:solidFill>
                  <a:srgbClr val="6666FF"/>
                </a:solidFill>
              </a:rPr>
              <a:t>MINIMUM SYSTEM REQUIREMENTS</a:t>
            </a:r>
            <a:endParaRPr lang="en-IN" sz="3200" b="1" dirty="0">
              <a:solidFill>
                <a:srgbClr val="6666FF"/>
              </a:solidFill>
            </a:endParaRPr>
          </a:p>
        </p:txBody>
      </p:sp>
      <p:sp>
        <p:nvSpPr>
          <p:cNvPr id="5" name="TextBox 4"/>
          <p:cNvSpPr txBox="1"/>
          <p:nvPr/>
        </p:nvSpPr>
        <p:spPr>
          <a:xfrm>
            <a:off x="694603" y="1572181"/>
            <a:ext cx="10305143" cy="4461510"/>
          </a:xfrm>
          <a:prstGeom prst="rect">
            <a:avLst/>
          </a:prstGeom>
          <a:noFill/>
        </p:spPr>
        <p:txBody>
          <a:bodyPr wrap="square" rtlCol="0">
            <a:spAutoFit/>
          </a:bodyPr>
          <a:lstStyle/>
          <a:p>
            <a:pPr>
              <a:lnSpc>
                <a:spcPct val="150000"/>
              </a:lnSpc>
            </a:pPr>
            <a:r>
              <a:rPr lang="en-GB" sz="2400" b="1" dirty="0">
                <a:solidFill>
                  <a:srgbClr val="FF0000"/>
                </a:solidFill>
              </a:rPr>
              <a:t>Software Requirements:</a:t>
            </a:r>
            <a:r>
              <a:rPr lang="en-GB" sz="2400" b="1" dirty="0"/>
              <a:t>	</a:t>
            </a:r>
            <a:endParaRPr lang="en-GB" sz="2400" b="1" dirty="0"/>
          </a:p>
          <a:p>
            <a:pPr>
              <a:lnSpc>
                <a:spcPct val="150000"/>
              </a:lnSpc>
            </a:pPr>
            <a:r>
              <a:rPr lang="en-GB" sz="2400" dirty="0">
                <a:latin typeface="Times New Roman" panose="02020603050405020304" pitchFamily="18" charset="0"/>
                <a:cs typeface="Times New Roman" panose="02020603050405020304" pitchFamily="18" charset="0"/>
                <a:sym typeface="+mn-ea"/>
              </a:rPr>
              <a:t>Application platform </a:t>
            </a:r>
            <a:r>
              <a:rPr lang="en-GB" sz="2400" b="1" dirty="0">
                <a:latin typeface="Times New Roman" panose="02020603050405020304" pitchFamily="18" charset="0"/>
                <a:cs typeface="Times New Roman" panose="02020603050405020304" pitchFamily="18" charset="0"/>
                <a:sym typeface="+mn-ea"/>
              </a:rPr>
              <a:t> </a:t>
            </a:r>
            <a:r>
              <a:rPr lang="en-US" altLang="en-GB" sz="2400" b="1" dirty="0">
                <a:latin typeface="Times New Roman" panose="02020603050405020304" pitchFamily="18" charset="0"/>
                <a:cs typeface="Times New Roman" panose="02020603050405020304" pitchFamily="18" charset="0"/>
                <a:sym typeface="+mn-ea"/>
              </a:rPr>
              <a:t>:</a:t>
            </a:r>
            <a:r>
              <a:rPr lang="en-GB" sz="2400" b="1" dirty="0">
                <a:latin typeface="Times New Roman" panose="02020603050405020304" pitchFamily="18" charset="0"/>
                <a:cs typeface="Times New Roman" panose="02020603050405020304" pitchFamily="18" charset="0"/>
                <a:sym typeface="+mn-ea"/>
              </a:rPr>
              <a:t> </a:t>
            </a:r>
            <a:r>
              <a:rPr lang="en-US" altLang="en-GB" sz="2400" b="1" dirty="0">
                <a:latin typeface="Times New Roman" panose="02020603050405020304" pitchFamily="18" charset="0"/>
                <a:cs typeface="Times New Roman" panose="02020603050405020304" pitchFamily="18" charset="0"/>
                <a:sym typeface="+mn-ea"/>
              </a:rPr>
              <a:t>    </a:t>
            </a:r>
            <a:r>
              <a:rPr lang="en-GB" sz="2400" dirty="0">
                <a:latin typeface="Times New Roman" panose="02020603050405020304" pitchFamily="18" charset="0"/>
                <a:cs typeface="Times New Roman" panose="02020603050405020304" pitchFamily="18" charset="0"/>
                <a:sym typeface="+mn-ea"/>
              </a:rPr>
              <a:t>Python 3.0 &amp; above</a:t>
            </a:r>
            <a:r>
              <a:rPr lang="en-GB" sz="2400" b="1" dirty="0"/>
              <a:t>						</a:t>
            </a:r>
            <a:endParaRPr lang="en-GB" dirty="0"/>
          </a:p>
          <a:p>
            <a:pPr marL="0" indent="0" algn="l">
              <a:buNone/>
            </a:pPr>
            <a:r>
              <a:rPr lang="en-IN" sz="2200" dirty="0">
                <a:sym typeface="+mn-ea"/>
              </a:rPr>
              <a:t>Operating system 		: 	Windows </a:t>
            </a:r>
            <a:r>
              <a:rPr lang="en-US" altLang="en-IN" sz="2200" dirty="0">
                <a:sym typeface="+mn-ea"/>
              </a:rPr>
              <a:t>7 &amp; above</a:t>
            </a:r>
            <a:endParaRPr lang="en-IN" sz="2200" dirty="0"/>
          </a:p>
          <a:p>
            <a:pPr marL="0" indent="0" algn="l">
              <a:buNone/>
            </a:pPr>
            <a:r>
              <a:rPr lang="en-IN" sz="2200" dirty="0">
                <a:sym typeface="+mn-ea"/>
              </a:rPr>
              <a:t>Coding Language		:	Python</a:t>
            </a:r>
            <a:endParaRPr lang="en-IN" sz="2200" dirty="0"/>
          </a:p>
          <a:p>
            <a:pPr marL="0" indent="0" algn="l">
              <a:buNone/>
            </a:pPr>
            <a:r>
              <a:rPr lang="en-IN" sz="2200" dirty="0">
                <a:sym typeface="+mn-ea"/>
              </a:rPr>
              <a:t>Tool				</a:t>
            </a:r>
            <a:r>
              <a:rPr lang="en-US" altLang="en-IN" sz="2200" dirty="0">
                <a:sym typeface="+mn-ea"/>
              </a:rPr>
              <a:t>      </a:t>
            </a:r>
            <a:r>
              <a:rPr lang="en-IN" sz="2200" dirty="0">
                <a:sym typeface="+mn-ea"/>
              </a:rPr>
              <a:t>:</a:t>
            </a:r>
            <a:r>
              <a:rPr lang="en-US" altLang="en-IN" sz="2200" dirty="0">
                <a:sym typeface="+mn-ea"/>
              </a:rPr>
              <a:t>    </a:t>
            </a:r>
            <a:r>
              <a:rPr lang="en-IN" sz="2200" dirty="0">
                <a:sym typeface="+mn-ea"/>
              </a:rPr>
              <a:t>Visual Studio Code</a:t>
            </a:r>
            <a:r>
              <a:rPr lang="en-GB" sz="2200" dirty="0"/>
              <a:t>                                       </a:t>
            </a:r>
            <a:endParaRPr lang="en-GB" dirty="0"/>
          </a:p>
          <a:p>
            <a:pPr>
              <a:lnSpc>
                <a:spcPct val="150000"/>
              </a:lnSpc>
            </a:pPr>
            <a:r>
              <a:rPr lang="en-GB" sz="2400" b="1" dirty="0">
                <a:solidFill>
                  <a:srgbClr val="FF0000"/>
                </a:solidFill>
              </a:rPr>
              <a:t>Hardware Requirements:</a:t>
            </a:r>
            <a:endParaRPr lang="en-GB" sz="2000" b="1" dirty="0"/>
          </a:p>
          <a:p>
            <a:pPr marL="0" indent="0">
              <a:buNone/>
            </a:pPr>
            <a:r>
              <a:rPr lang="en-IN" sz="2000" dirty="0">
                <a:sym typeface="+mn-ea"/>
              </a:rPr>
              <a:t>System			            :     Intel Core i</a:t>
            </a:r>
            <a:r>
              <a:rPr lang="en-US" altLang="en-IN" sz="2000" dirty="0">
                <a:sym typeface="+mn-ea"/>
              </a:rPr>
              <a:t>5 or above</a:t>
            </a:r>
            <a:endParaRPr lang="en-IN" sz="2000" dirty="0"/>
          </a:p>
          <a:p>
            <a:pPr marL="0" indent="0">
              <a:buNone/>
            </a:pPr>
            <a:r>
              <a:rPr lang="en-IN" sz="2000" dirty="0">
                <a:sym typeface="+mn-ea"/>
              </a:rPr>
              <a:t>Hard Disk 			</a:t>
            </a:r>
            <a:r>
              <a:rPr lang="en-US" altLang="en-IN" sz="2000" dirty="0">
                <a:sym typeface="+mn-ea"/>
              </a:rPr>
              <a:t>      </a:t>
            </a:r>
            <a:r>
              <a:rPr lang="en-IN" sz="2000" dirty="0">
                <a:sym typeface="+mn-ea"/>
              </a:rPr>
              <a:t>: 	1T</a:t>
            </a:r>
            <a:r>
              <a:rPr lang="en-US" altLang="en-IN" sz="2000" dirty="0">
                <a:sym typeface="+mn-ea"/>
              </a:rPr>
              <a:t>B</a:t>
            </a:r>
            <a:endParaRPr lang="en-IN" sz="2000" dirty="0"/>
          </a:p>
          <a:p>
            <a:pPr marL="0" indent="0">
              <a:buNone/>
            </a:pPr>
            <a:r>
              <a:rPr lang="en-IN" sz="2000" dirty="0">
                <a:sym typeface="+mn-ea"/>
              </a:rPr>
              <a:t>Input Devices		      : 	Keyboard, Mouse</a:t>
            </a:r>
            <a:endParaRPr lang="en-IN" sz="2000" dirty="0"/>
          </a:p>
          <a:p>
            <a:pPr marL="0" indent="0">
              <a:buNone/>
            </a:pPr>
            <a:r>
              <a:rPr lang="en-IN" sz="2000" dirty="0">
                <a:sym typeface="+mn-ea"/>
              </a:rPr>
              <a:t>Ram				</a:t>
            </a:r>
            <a:r>
              <a:rPr lang="en-US" altLang="en-IN" sz="2000" dirty="0">
                <a:sym typeface="+mn-ea"/>
              </a:rPr>
              <a:t>      </a:t>
            </a:r>
            <a:r>
              <a:rPr lang="en-IN" sz="2000" dirty="0">
                <a:sym typeface="+mn-ea"/>
              </a:rPr>
              <a:t>: </a:t>
            </a:r>
            <a:r>
              <a:rPr lang="en-US" altLang="en-IN" sz="2000" dirty="0">
                <a:sym typeface="+mn-ea"/>
              </a:rPr>
              <a:t>    4</a:t>
            </a:r>
            <a:r>
              <a:rPr lang="en-IN" sz="2000" dirty="0">
                <a:sym typeface="+mn-ea"/>
              </a:rPr>
              <a:t>GB</a:t>
            </a:r>
            <a:r>
              <a:rPr lang="en-US" altLang="en-IN" sz="2000" dirty="0">
                <a:sym typeface="+mn-ea"/>
              </a:rPr>
              <a:t> or 8GB</a:t>
            </a:r>
            <a:endParaRPr lang="en-IN" sz="2000" dirty="0"/>
          </a:p>
          <a:p>
            <a:pPr>
              <a:lnSpc>
                <a:spcPct val="150000"/>
              </a:lnSpc>
            </a:pPr>
            <a:endParaRPr lang="en-IN" sz="2000" dirty="0"/>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703195" y="2923540"/>
            <a:ext cx="6416040" cy="855345"/>
          </a:xfrm>
        </p:spPr>
        <p:txBody>
          <a:bodyPr/>
          <a:p>
            <a:pPr marL="0" indent="0">
              <a:buNone/>
            </a:pPr>
            <a:r>
              <a:rPr lang="en-US" b="0" dirty="0">
                <a:ln w="0"/>
                <a:solidFill>
                  <a:srgbClr val="0033CC"/>
                </a:solidFill>
                <a:effectLst>
                  <a:outerShdw blurRad="38100" dist="25400" dir="5400000" algn="ctr" rotWithShape="0">
                    <a:srgbClr val="6E747A">
                      <a:alpha val="43000"/>
                    </a:srgbClr>
                  </a:outerShdw>
                </a:effectLst>
                <a:sym typeface="+mn-ea"/>
              </a:rPr>
              <a:t>ANALYSIS AND DESIGN</a:t>
            </a:r>
            <a:br>
              <a:rPr lang="en-IN" b="0" dirty="0">
                <a:ln w="0"/>
                <a:solidFill>
                  <a:srgbClr val="0033CC"/>
                </a:solidFill>
                <a:effectLst>
                  <a:outerShdw blurRad="38100" dist="25400" dir="5400000" algn="ctr" rotWithShape="0">
                    <a:srgbClr val="6E747A">
                      <a:alpha val="43000"/>
                    </a:srgbClr>
                  </a:outerShdw>
                </a:effectLst>
                <a:sym typeface="+mn-ea"/>
              </a:rPr>
            </a:b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39920" y="139065"/>
            <a:ext cx="2544445" cy="914400"/>
          </a:xfrm>
        </p:spPr>
        <p:txBody>
          <a:bodyPr/>
          <a:p>
            <a:pPr marL="0" indent="0">
              <a:buNone/>
            </a:pPr>
            <a:r>
              <a:rPr lang="en-US" sz="3200" b="0" dirty="0">
                <a:ln w="0"/>
                <a:solidFill>
                  <a:srgbClr val="0033CC"/>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rPr>
              <a:t>ANALYSIS</a:t>
            </a:r>
            <a:br>
              <a:rPr lang="en-US" sz="3200" b="0" dirty="0">
                <a:ln w="0"/>
                <a:solidFill>
                  <a:srgbClr val="0033CC"/>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rPr>
            </a:br>
            <a:endParaRPr lang="en-US" sz="3200">
              <a:latin typeface="Times New Roman" panose="02020603050405020304" pitchFamily="18" charset="0"/>
              <a:cs typeface="Times New Roman" panose="02020603050405020304" pitchFamily="18" charset="0"/>
            </a:endParaRPr>
          </a:p>
        </p:txBody>
      </p:sp>
      <p:sp>
        <p:nvSpPr>
          <p:cNvPr id="4" name="Text Box 3"/>
          <p:cNvSpPr txBox="1"/>
          <p:nvPr/>
        </p:nvSpPr>
        <p:spPr>
          <a:xfrm>
            <a:off x="575310" y="829945"/>
            <a:ext cx="8677910" cy="814705"/>
          </a:xfrm>
          <a:prstGeom prst="rect">
            <a:avLst/>
          </a:prstGeom>
          <a:noFill/>
        </p:spPr>
        <p:txBody>
          <a:bodyPr wrap="square" rtlCol="0">
            <a:noAutofit/>
          </a:bodyPr>
          <a:p>
            <a:pPr marL="45720" indent="0">
              <a:buNone/>
            </a:pPr>
            <a:r>
              <a:rPr lang="en-US" sz="2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The Following Modules are Identified In this Project</a:t>
            </a:r>
            <a:endParaRPr lang="en-US" sz="2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45720" indent="0">
              <a:buNone/>
            </a:pPr>
            <a:r>
              <a:rPr lang="en-US" sz="2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1.System Modules                 2.User Modules</a:t>
            </a:r>
            <a:endParaRPr lang="en-US" sz="2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endParaRPr>
          </a:p>
        </p:txBody>
      </p:sp>
      <p:sp>
        <p:nvSpPr>
          <p:cNvPr id="5" name="Text Box 4"/>
          <p:cNvSpPr txBox="1"/>
          <p:nvPr/>
        </p:nvSpPr>
        <p:spPr>
          <a:xfrm>
            <a:off x="4288155" y="1711325"/>
            <a:ext cx="4131310" cy="452755"/>
          </a:xfrm>
          <a:prstGeom prst="rect">
            <a:avLst/>
          </a:prstGeom>
          <a:noFill/>
        </p:spPr>
        <p:txBody>
          <a:bodyPr wrap="square" rtlCol="0">
            <a:noAutofit/>
          </a:bodyPr>
          <a:p>
            <a:pPr marL="45720" indent="0">
              <a:buNone/>
            </a:pPr>
            <a:r>
              <a:rPr lang="en-US" sz="2800" dirty="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rPr>
              <a:t>SYSTEM MODULES</a:t>
            </a:r>
            <a:endParaRPr lang="en-US" sz="2800" dirty="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endParaRPr>
          </a:p>
        </p:txBody>
      </p:sp>
      <p:sp>
        <p:nvSpPr>
          <p:cNvPr id="6" name="Text Box 5"/>
          <p:cNvSpPr txBox="1"/>
          <p:nvPr/>
        </p:nvSpPr>
        <p:spPr>
          <a:xfrm>
            <a:off x="374015" y="2230755"/>
            <a:ext cx="11006455" cy="4451985"/>
          </a:xfrm>
          <a:prstGeom prst="rect">
            <a:avLst/>
          </a:prstGeom>
          <a:noFill/>
        </p:spPr>
        <p:txBody>
          <a:bodyPr wrap="square" rtlCol="0">
            <a:noAutofit/>
          </a:bodyPr>
          <a:p>
            <a:pPr algn="just"/>
            <a:r>
              <a:rPr lang="en-US" altLang="en-US" sz="2000" b="1">
                <a:solidFill>
                  <a:schemeClr val="tx1"/>
                </a:solidFill>
                <a:latin typeface="Times New Roman" panose="02020603050405020304" pitchFamily="18" charset="0"/>
                <a:cs typeface="Times New Roman" panose="02020603050405020304" pitchFamily="18" charset="0"/>
              </a:rPr>
              <a:t>System Modules</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rPr>
              <a:t>Data Collection Module</a:t>
            </a:r>
            <a:endParaRPr lang="en-US" altLang="en-US" b="1"/>
          </a:p>
          <a:p>
            <a:pPr algn="just"/>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Collects app data such as ratings, reviews, installs, app size, category, pricing, and update history.</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Gathers data from sources like Google Play Store and Apple App Store.</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Ensures large and diverse datasets for better model accuracy.</a:t>
            </a:r>
            <a:endParaRPr lang="en-US" altLang="en-US"/>
          </a:p>
          <a:p>
            <a:pPr indent="0" algn="just">
              <a:buFont typeface="Arial" panose="020B0604020202020204" pitchFamily="34" charset="0"/>
              <a:buNone/>
            </a:pPr>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Integrates multiple data sources for comprehensive analysis.</a:t>
            </a:r>
            <a:endParaRPr lang="en-US" altLang="en-US">
              <a:latin typeface="Times New Roman" panose="02020603050405020304" pitchFamily="18" charset="0"/>
              <a:cs typeface="Times New Roman" panose="02020603050405020304" pitchFamily="18" charset="0"/>
            </a:endParaRPr>
          </a:p>
          <a:p>
            <a:pPr algn="just"/>
            <a:endParaRPr lang="en-US" altLang="en-US"/>
          </a:p>
          <a:p>
            <a:pPr algn="just"/>
            <a:r>
              <a:rPr lang="en-US" altLang="en-US" b="1">
                <a:latin typeface="Times New Roman" panose="02020603050405020304" pitchFamily="18" charset="0"/>
                <a:cs typeface="Times New Roman" panose="02020603050405020304" pitchFamily="18" charset="0"/>
              </a:rPr>
              <a:t>Data Preprocessing Module</a:t>
            </a:r>
            <a:endParaRPr lang="en-US" altLang="en-US"/>
          </a:p>
          <a:p>
            <a:pPr algn="just"/>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Handles missing values and removes duplicate entries.</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Cleans noisy data such as fake or irrelevant reviews.</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Converts categorical data into numerical format using encoding techniques.</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Normalizes and scales numerical features to improve model efficiency.</a:t>
            </a:r>
            <a:endParaRPr lang="en-US" altLang="en-US">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16585" y="335915"/>
            <a:ext cx="11497945" cy="5584190"/>
          </a:xfrm>
          <a:prstGeom prst="rect">
            <a:avLst/>
          </a:prstGeom>
          <a:noFill/>
        </p:spPr>
        <p:txBody>
          <a:bodyPr wrap="square" rtlCol="0" anchor="t">
            <a:noAutofit/>
          </a:bodyPr>
          <a:p>
            <a:pPr algn="just"/>
            <a:r>
              <a:rPr lang="en-US" altLang="en-US" b="1">
                <a:latin typeface="Times New Roman" panose="02020603050405020304" pitchFamily="18" charset="0"/>
                <a:cs typeface="Times New Roman" panose="02020603050405020304" pitchFamily="18" charset="0"/>
                <a:sym typeface="+mn-ea"/>
              </a:rPr>
              <a:t>Feature Extraction &amp; Selection Module</a:t>
            </a:r>
            <a:endParaRPr lang="en-US" altLang="en-US" b="1">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Extracts important features like number of reviews, average rating, app size, and update frequency</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Applies sentiment analysis on user reviews to derive sentiment scores</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Identifies key factors that influence app ratings</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Selects the most relevant features to improve prediction performance</a:t>
            </a:r>
            <a:endParaRPr lang="en-US" altLang="en-US">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Machine Learning Model Module</a:t>
            </a:r>
            <a:endParaRPr lang="en-US" altLang="en-US" b="1">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Implements algorithms such as Random Forest, KNN, and Linear Regression</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Trains models using historical app data to learn patterns</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Evaluates models using metrics like accuracy, MSE, and R-squared</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Compares different models to choose the best one</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Predicts future app ratings based on selected features</a:t>
            </a:r>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Supports data-driven decisions for developers to enhance app quality</a:t>
            </a:r>
            <a:endParaRPr lang="en-US" altLang="en-US">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657600" y="375920"/>
            <a:ext cx="3200400" cy="695960"/>
          </a:xfrm>
          <a:prstGeom prst="rect">
            <a:avLst/>
          </a:prstGeom>
          <a:noFill/>
        </p:spPr>
        <p:txBody>
          <a:bodyPr wrap="square" rtlCol="0" anchor="t">
            <a:noAutofit/>
          </a:bodyPr>
          <a:p>
            <a:r>
              <a:rPr lang="en-US" sz="3200" dirty="0">
                <a:ln w="0"/>
                <a:solidFill>
                  <a:srgbClr val="C00000"/>
                </a:solidFill>
                <a:effectLst/>
                <a:sym typeface="+mn-ea"/>
              </a:rPr>
              <a:t>USER MODULES</a:t>
            </a:r>
            <a:br>
              <a:rPr lang="en-US" sz="3200" dirty="0">
                <a:ln w="0"/>
                <a:solidFill>
                  <a:srgbClr val="C00000"/>
                </a:solidFill>
                <a:effectLst>
                  <a:outerShdw blurRad="38100" dist="25400" dir="5400000" algn="ctr" rotWithShape="0">
                    <a:srgbClr val="6E747A">
                      <a:alpha val="43000"/>
                    </a:srgbClr>
                  </a:outerShdw>
                </a:effectLst>
                <a:sym typeface="+mn-ea"/>
              </a:rPr>
            </a:br>
            <a:endParaRPr lang="en-US" sz="3200" dirty="0">
              <a:ln w="0"/>
              <a:solidFill>
                <a:srgbClr val="C00000"/>
              </a:solidFill>
              <a:effectLst>
                <a:outerShdw blurRad="38100" dist="25400" dir="5400000" algn="ctr" rotWithShape="0">
                  <a:srgbClr val="6E747A">
                    <a:alpha val="43000"/>
                  </a:srgbClr>
                </a:outerShdw>
              </a:effectLst>
              <a:sym typeface="+mn-ea"/>
            </a:endParaRPr>
          </a:p>
        </p:txBody>
      </p:sp>
      <p:sp>
        <p:nvSpPr>
          <p:cNvPr id="6" name="Text Box 5"/>
          <p:cNvSpPr txBox="1"/>
          <p:nvPr/>
        </p:nvSpPr>
        <p:spPr>
          <a:xfrm>
            <a:off x="619125" y="1181735"/>
            <a:ext cx="10082530" cy="4866640"/>
          </a:xfrm>
          <a:prstGeom prst="rect">
            <a:avLst/>
          </a:prstGeom>
        </p:spPr>
        <p:txBody>
          <a:bodyPr wrap="square">
            <a:noAutofit/>
          </a:bodyPr>
          <a:p>
            <a:pPr algn="just"/>
            <a:r>
              <a:rPr lang="en-US" altLang="en-US" b="1">
                <a:latin typeface="Times New Roman" panose="02020603050405020304" pitchFamily="18" charset="0"/>
                <a:cs typeface="Times New Roman" panose="02020603050405020304" pitchFamily="18" charset="0"/>
              </a:rPr>
              <a:t>1</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User Registration &amp; Authentication Module</a:t>
            </a:r>
            <a:endParaRPr lang="en-US" altLang="en-US">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This module is responsible for managing user access to the system. New users can create an account by providing basic details such as username, email ID, and password. The authentication process ensures that only authorized users can log in and use the application. Secure login mechanisms help protect user data and maintain privacy while accessing prediction services.</a:t>
            </a:r>
            <a:endParaRPr lang="en-US" altLang="en-US" sz="1600">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rPr>
              <a:t>2. App Data Input Module</a:t>
            </a:r>
            <a:endParaRPr lang="en-US" altLang="en-US">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This module allows users to enter or select mobile app details required for rating prediction. Users can provide information such as app category, number of downloads, size, version, and update frequency. The module validates the input data and forwards it to the system for preprocessing, ensuring accurate and meaningful predictions.</a:t>
            </a:r>
            <a:endParaRPr lang="en-US" altLang="en-US" sz="1600">
              <a:latin typeface="Times New Roman" panose="02020603050405020304" pitchFamily="18" charset="0"/>
              <a:cs typeface="Times New Roman" panose="02020603050405020304" pitchFamily="18" charset="0"/>
            </a:endParaRPr>
          </a:p>
          <a:p>
            <a:pPr algn="just"/>
            <a:endParaRPr lang="en-US" altLang="en-US" sz="1600">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rPr>
              <a:t>3. Prediction Request Module</a:t>
            </a:r>
            <a:endParaRPr lang="en-US" altLang="en-US">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The prediction request module enables users to initiate the rating forecasting process. Once app details are submitted, users can request the system to predict future app ratings. This module interacts with the trained machine learning model and sends user requests to the prediction engine for processing.</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133600" y="224790"/>
            <a:ext cx="7010400" cy="970280"/>
          </a:xfrm>
          <a:prstGeom prst="rect">
            <a:avLst/>
          </a:prstGeom>
          <a:noFill/>
        </p:spPr>
        <p:txBody>
          <a:bodyPr wrap="square" rtlCol="0" anchor="t">
            <a:noAutofit/>
          </a:bodyPr>
          <a:p>
            <a:r>
              <a:rPr lang="en-US" altLang="en-IN" sz="3200" dirty="0">
                <a:ln w="0"/>
                <a:solidFill>
                  <a:schemeClr val="accent1"/>
                </a:solidFill>
                <a:effectLst>
                  <a:outerShdw blurRad="38100" dist="25400" dir="5400000" algn="ctr" rotWithShape="0">
                    <a:srgbClr val="6E747A">
                      <a:alpha val="43000"/>
                    </a:srgbClr>
                  </a:outerShdw>
                </a:effectLst>
                <a:sym typeface="+mn-ea"/>
              </a:rPr>
              <a:t>                    </a:t>
            </a:r>
            <a:r>
              <a:rPr lang="en-IN" sz="3200" dirty="0">
                <a:ln w="0"/>
                <a:solidFill>
                  <a:schemeClr val="accent1"/>
                </a:solidFill>
                <a:effectLst>
                  <a:outerShdw blurRad="38100" dist="25400" dir="5400000" algn="ctr" rotWithShape="0">
                    <a:srgbClr val="6E747A">
                      <a:alpha val="43000"/>
                    </a:srgbClr>
                  </a:outerShdw>
                </a:effectLst>
                <a:sym typeface="+mn-ea"/>
              </a:rPr>
              <a:t>DESIGN</a:t>
            </a:r>
            <a:br>
              <a:rPr lang="en-IN" sz="2800" dirty="0">
                <a:ln w="0"/>
                <a:solidFill>
                  <a:schemeClr val="accent1"/>
                </a:solidFill>
                <a:effectLst>
                  <a:outerShdw blurRad="38100" dist="25400" dir="5400000" algn="ctr" rotWithShape="0">
                    <a:srgbClr val="6E747A">
                      <a:alpha val="43000"/>
                    </a:srgbClr>
                  </a:outerShdw>
                </a:effectLst>
                <a:sym typeface="+mn-ea"/>
              </a:rPr>
            </a:br>
            <a:r>
              <a:rPr lang="en-US" altLang="en-IN" sz="2800" dirty="0">
                <a:ln w="0"/>
                <a:solidFill>
                  <a:schemeClr val="accent1"/>
                </a:solidFill>
                <a:effectLst>
                  <a:outerShdw blurRad="38100" dist="25400" dir="5400000" algn="ctr" rotWithShape="0">
                    <a:srgbClr val="6E747A">
                      <a:alpha val="43000"/>
                    </a:srgbClr>
                  </a:outerShdw>
                </a:effectLst>
                <a:sym typeface="+mn-ea"/>
              </a:rPr>
              <a:t>              </a:t>
            </a:r>
            <a:r>
              <a:rPr lang="en-IN" sz="2800" dirty="0">
                <a:ln w="0"/>
                <a:solidFill>
                  <a:schemeClr val="accent1"/>
                </a:solidFill>
                <a:effectLst>
                  <a:outerShdw blurRad="38100" dist="25400" dir="5400000" algn="ctr" rotWithShape="0">
                    <a:srgbClr val="6E747A">
                      <a:alpha val="43000"/>
                    </a:srgbClr>
                  </a:outerShdw>
                </a:effectLst>
                <a:sym typeface="+mn-ea"/>
              </a:rPr>
              <a:t>DATAFLOW DIAGRAMS</a:t>
            </a:r>
            <a:br>
              <a:rPr lang="en-IN" dirty="0">
                <a:sym typeface="+mn-ea"/>
              </a:rPr>
            </a:br>
            <a:endParaRPr lang="en-IN" dirty="0">
              <a:sym typeface="+mn-ea"/>
            </a:endParaRPr>
          </a:p>
        </p:txBody>
      </p:sp>
      <p:sp>
        <p:nvSpPr>
          <p:cNvPr id="5" name="Text Box 4"/>
          <p:cNvSpPr txBox="1"/>
          <p:nvPr/>
        </p:nvSpPr>
        <p:spPr>
          <a:xfrm>
            <a:off x="883285" y="1682115"/>
            <a:ext cx="4064000" cy="398780"/>
          </a:xfrm>
          <a:prstGeom prst="rect">
            <a:avLst/>
          </a:prstGeom>
          <a:noFill/>
        </p:spPr>
        <p:txBody>
          <a:bodyPr wrap="square" rtlCol="0">
            <a:spAutoFit/>
          </a:bodyPr>
          <a:p>
            <a:r>
              <a:rPr lang="en-IN" sz="2000" b="1" dirty="0">
                <a:latin typeface="Times New Roman" panose="02020603050405020304" pitchFamily="18" charset="0"/>
                <a:cs typeface="Times New Roman" panose="02020603050405020304" pitchFamily="18" charset="0"/>
                <a:sym typeface="+mn-ea"/>
              </a:rPr>
              <a:t>LEVEL 0</a:t>
            </a:r>
            <a:r>
              <a:rPr lang="en-US" altLang="en-IN" sz="2000" b="1" dirty="0">
                <a:latin typeface="Times New Roman" panose="02020603050405020304" pitchFamily="18" charset="0"/>
                <a:cs typeface="Times New Roman" panose="02020603050405020304" pitchFamily="18" charset="0"/>
                <a:sym typeface="+mn-ea"/>
              </a:rPr>
              <a:t> </a:t>
            </a:r>
            <a:r>
              <a:rPr lang="en-IN" sz="2000" b="1" dirty="0">
                <a:latin typeface="Times New Roman" panose="02020603050405020304" pitchFamily="18" charset="0"/>
                <a:cs typeface="Times New Roman" panose="02020603050405020304" pitchFamily="18" charset="0"/>
                <a:sym typeface="+mn-ea"/>
              </a:rPr>
              <a:t>:</a:t>
            </a:r>
            <a:endParaRPr lang="en-US" sz="2000" b="1">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2003425" y="3555365"/>
            <a:ext cx="8184515" cy="2590165"/>
          </a:xfrm>
          <a:prstGeom prst="rect">
            <a:avLst/>
          </a:prstGeom>
        </p:spPr>
      </p:pic>
      <p:sp>
        <p:nvSpPr>
          <p:cNvPr id="6" name="Text Box 5"/>
          <p:cNvSpPr txBox="1"/>
          <p:nvPr/>
        </p:nvSpPr>
        <p:spPr>
          <a:xfrm>
            <a:off x="1240155" y="2020570"/>
            <a:ext cx="9092565" cy="1713865"/>
          </a:xfrm>
          <a:prstGeom prst="rect">
            <a:avLst/>
          </a:prstGeom>
          <a:noFill/>
        </p:spPr>
        <p:txBody>
          <a:bodyPr wrap="square" rtlCol="0">
            <a:noAutofit/>
          </a:bodyPr>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Shows the overall system as a single process.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Input</a:t>
            </a:r>
            <a:r>
              <a:rPr lang="en-US" altLang="en-US">
                <a:latin typeface="Times New Roman" panose="02020603050405020304" pitchFamily="18" charset="0"/>
                <a:cs typeface="Times New Roman" panose="02020603050405020304" pitchFamily="18" charset="0"/>
              </a:rPr>
              <a:t>: app data such as ratings, reviews, installs, and app details.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Output</a:t>
            </a:r>
            <a:r>
              <a:rPr lang="en-US" altLang="en-US">
                <a:latin typeface="Times New Roman" panose="02020603050405020304" pitchFamily="18" charset="0"/>
                <a:cs typeface="Times New Roman" panose="02020603050405020304" pitchFamily="18" charset="0"/>
              </a:rPr>
              <a:t>: predicted app ratings.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External entities include data sources like Google Play Store and Apple App Store, and users/developers.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956945" y="831850"/>
            <a:ext cx="4064000" cy="344170"/>
          </a:xfrm>
          <a:prstGeom prst="rect">
            <a:avLst/>
          </a:prstGeom>
          <a:noFill/>
        </p:spPr>
        <p:txBody>
          <a:bodyPr wrap="square" rtlCol="0">
            <a:noAutofit/>
          </a:bodyPr>
          <a:p>
            <a:r>
              <a:rPr lang="en-IN"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LEVEL 1:</a:t>
            </a:r>
            <a:endParaRPr lang="en-IN" b="0" dirty="0">
              <a:ln w="0"/>
              <a:solidFill>
                <a:schemeClr val="tx1"/>
              </a:solidFill>
              <a:effectLst>
                <a:outerShdw blurRad="38100" dist="19050" dir="2700000" algn="tl" rotWithShape="0">
                  <a:schemeClr val="dk1">
                    <a:alpha val="40000"/>
                  </a:schemeClr>
                </a:outerShdw>
              </a:effectLst>
            </a:endParaRPr>
          </a:p>
          <a:p>
            <a:endParaRPr lang="en-US"/>
          </a:p>
        </p:txBody>
      </p:sp>
      <p:pic>
        <p:nvPicPr>
          <p:cNvPr id="5" name="Picture 4"/>
          <p:cNvPicPr>
            <a:picLocks noChangeAspect="1"/>
          </p:cNvPicPr>
          <p:nvPr/>
        </p:nvPicPr>
        <p:blipFill>
          <a:blip r:embed="rId1"/>
          <a:stretch>
            <a:fillRect/>
          </a:stretch>
        </p:blipFill>
        <p:spPr>
          <a:xfrm>
            <a:off x="2077085" y="2604770"/>
            <a:ext cx="8248015" cy="3768725"/>
          </a:xfrm>
          <a:prstGeom prst="rect">
            <a:avLst/>
          </a:prstGeom>
        </p:spPr>
      </p:pic>
      <p:sp>
        <p:nvSpPr>
          <p:cNvPr id="6" name="Text Box 5"/>
          <p:cNvSpPr txBox="1"/>
          <p:nvPr/>
        </p:nvSpPr>
        <p:spPr>
          <a:xfrm>
            <a:off x="1569085" y="1176020"/>
            <a:ext cx="10346055" cy="737235"/>
          </a:xfrm>
          <a:prstGeom prst="rect">
            <a:avLst/>
          </a:prstGeom>
          <a:noFill/>
        </p:spPr>
        <p:txBody>
          <a:bodyPr wrap="square" rtlCol="0">
            <a:noAutofit/>
          </a:bodyPr>
          <a:p>
            <a:pPr marL="285750" indent="-285750">
              <a:buFont typeface="Arial" panose="020B0604020202020204" pitchFamily="34" charset="0"/>
              <a:buChar char="•"/>
            </a:pPr>
            <a:r>
              <a:rPr lang="en-US" altLang="en-US"/>
              <a:t>Breaks the system into major modules.</a:t>
            </a:r>
            <a:endParaRPr lang="en-US" altLang="en-US"/>
          </a:p>
          <a:p>
            <a:pPr marL="285750" indent="-285750">
              <a:buFont typeface="Arial" panose="020B0604020202020204" pitchFamily="34" charset="0"/>
              <a:buChar char="•"/>
            </a:pPr>
            <a:r>
              <a:rPr lang="en-US" altLang="en-US"/>
              <a:t>Data Collection process gathers raw app data from APIs/datasets.</a:t>
            </a:r>
            <a:endParaRPr lang="en-US" altLang="en-US"/>
          </a:p>
          <a:p>
            <a:pPr marL="285750" indent="-285750">
              <a:buFont typeface="Arial" panose="020B0604020202020204" pitchFamily="34" charset="0"/>
              <a:buChar char="•"/>
            </a:pPr>
            <a:r>
              <a:rPr lang="en-US" altLang="en-US"/>
              <a:t>Data Preprocessing process cleans and transforms the collected data.</a:t>
            </a:r>
            <a:endParaRPr lang="en-US" altLang="en-US"/>
          </a:p>
          <a:p>
            <a:pPr marL="285750" indent="-285750">
              <a:buFont typeface="Arial" panose="020B0604020202020204" pitchFamily="34" charset="0"/>
              <a:buChar char="•"/>
            </a:pPr>
            <a:r>
              <a:rPr lang="en-US" altLang="en-US"/>
              <a:t>Feature Extraction process selects important attributes influencing ratings.</a:t>
            </a:r>
            <a:endParaRPr lang="en-US" altLang="en-US"/>
          </a:p>
        </p:txBody>
      </p:sp>
      <p:sp>
        <p:nvSpPr>
          <p:cNvPr id="2" name="Text Box 1"/>
          <p:cNvSpPr txBox="1"/>
          <p:nvPr/>
        </p:nvSpPr>
        <p:spPr>
          <a:xfrm>
            <a:off x="9692005" y="2178050"/>
            <a:ext cx="4064000" cy="368300"/>
          </a:xfrm>
          <a:prstGeom prst="rect">
            <a:avLst/>
          </a:prstGeom>
          <a:noFill/>
        </p:spPr>
        <p:txBody>
          <a:bodyPr wrap="square" rtlCol="0">
            <a:spAutoFit/>
          </a:bodyPr>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581660" y="456565"/>
            <a:ext cx="4064000" cy="706755"/>
          </a:xfrm>
          <a:prstGeom prst="rect">
            <a:avLst/>
          </a:prstGeom>
          <a:noFill/>
        </p:spPr>
        <p:txBody>
          <a:bodyPr wrap="square" rtlCol="0">
            <a:spAutoFit/>
          </a:bodyPr>
          <a:p>
            <a:r>
              <a:rPr lang="en-IN"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LEVEL 2:</a:t>
            </a:r>
            <a:endParaRPr lang="en-IN" sz="2000" b="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952500" y="2733040"/>
            <a:ext cx="10287000" cy="3338830"/>
          </a:xfrm>
          <a:prstGeom prst="rect">
            <a:avLst/>
          </a:prstGeom>
        </p:spPr>
      </p:pic>
      <p:sp>
        <p:nvSpPr>
          <p:cNvPr id="4" name="Text Box 3"/>
          <p:cNvSpPr txBox="1"/>
          <p:nvPr/>
        </p:nvSpPr>
        <p:spPr>
          <a:xfrm>
            <a:off x="952500" y="914400"/>
            <a:ext cx="11013440" cy="1819275"/>
          </a:xfrm>
          <a:prstGeom prst="rect">
            <a:avLst/>
          </a:prstGeom>
          <a:noFill/>
        </p:spPr>
        <p:txBody>
          <a:bodyPr wrap="square" rtlCol="0">
            <a:noAutofit/>
          </a:bodyPr>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Data Collection</a:t>
            </a:r>
            <a:r>
              <a:rPr lang="en-US" altLang="en-US">
                <a:latin typeface="Times New Roman" panose="02020603050405020304" pitchFamily="18" charset="0"/>
                <a:cs typeface="Times New Roman" panose="02020603050405020304" pitchFamily="18" charset="0"/>
              </a:rPr>
              <a:t>: fetches structured and unstructured data (reviews, ratings)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Preprocessing</a:t>
            </a:r>
            <a:r>
              <a:rPr lang="en-US" altLang="en-US">
                <a:latin typeface="Times New Roman" panose="02020603050405020304" pitchFamily="18" charset="0"/>
                <a:cs typeface="Times New Roman" panose="02020603050405020304" pitchFamily="18" charset="0"/>
              </a:rPr>
              <a:t>: removes missing values, duplicates, and noise</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Feature Engineering</a:t>
            </a:r>
            <a:r>
              <a:rPr lang="en-US" altLang="en-US">
                <a:latin typeface="Times New Roman" panose="02020603050405020304" pitchFamily="18" charset="0"/>
                <a:cs typeface="Times New Roman" panose="02020603050405020304" pitchFamily="18" charset="0"/>
              </a:rPr>
              <a:t>: performs sentiment analysis and feature selection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Model Training</a:t>
            </a:r>
            <a:r>
              <a:rPr lang="en-US" altLang="en-US">
                <a:latin typeface="Times New Roman" panose="02020603050405020304" pitchFamily="18" charset="0"/>
                <a:cs typeface="Times New Roman" panose="02020603050405020304" pitchFamily="18" charset="0"/>
              </a:rPr>
              <a:t>: applies algorithms like Random Forest, KNN, Regression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Evaluation</a:t>
            </a:r>
            <a:r>
              <a:rPr lang="en-US" altLang="en-US">
                <a:latin typeface="Times New Roman" panose="02020603050405020304" pitchFamily="18" charset="0"/>
                <a:cs typeface="Times New Roman" panose="02020603050405020304" pitchFamily="18" charset="0"/>
              </a:rPr>
              <a:t>: checks model performance using metrics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Prediction</a:t>
            </a:r>
            <a:r>
              <a:rPr lang="en-US" altLang="en-US">
                <a:latin typeface="Times New Roman" panose="02020603050405020304" pitchFamily="18" charset="0"/>
                <a:cs typeface="Times New Roman" panose="02020603050405020304" pitchFamily="18" charset="0"/>
              </a:rPr>
              <a:t>: generates final rating forecast</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983990" y="173990"/>
            <a:ext cx="2371725" cy="1076960"/>
          </a:xfrm>
          <a:prstGeom prst="rect">
            <a:avLst/>
          </a:prstGeom>
          <a:noFill/>
        </p:spPr>
        <p:txBody>
          <a:bodyPr wrap="square" rtlCol="0">
            <a:noAutofit/>
          </a:bodyPr>
          <a:p>
            <a:r>
              <a:rPr lang="en-IN" sz="2000" dirty="0">
                <a:ln w="0"/>
                <a:solidFill>
                  <a:srgbClr val="0033CC"/>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rPr>
              <a:t>UML DIAGRAMS</a:t>
            </a:r>
            <a:r>
              <a:rPr lang="en-IN" dirty="0">
                <a:ln w="0"/>
                <a:solidFill>
                  <a:srgbClr val="0033CC"/>
                </a:solidFill>
                <a:effectLst>
                  <a:outerShdw blurRad="38100" dist="25400" dir="5400000" algn="ctr" rotWithShape="0">
                    <a:srgbClr val="6E747A">
                      <a:alpha val="43000"/>
                    </a:srgbClr>
                  </a:outerShdw>
                </a:effectLst>
                <a:sym typeface="+mn-ea"/>
              </a:rPr>
              <a:t> </a:t>
            </a:r>
            <a:endParaRPr lang="en-IN" b="0" dirty="0">
              <a:ln w="0"/>
              <a:solidFill>
                <a:srgbClr val="0033CC"/>
              </a:solidFill>
              <a:effectLst>
                <a:outerShdw blurRad="38100" dist="25400" dir="5400000" algn="ctr" rotWithShape="0">
                  <a:srgbClr val="6E747A">
                    <a:alpha val="43000"/>
                  </a:srgbClr>
                </a:outerShdw>
              </a:effectLst>
            </a:endParaRPr>
          </a:p>
          <a:p>
            <a:endParaRPr lang="en-US"/>
          </a:p>
        </p:txBody>
      </p:sp>
      <p:sp>
        <p:nvSpPr>
          <p:cNvPr id="5" name="Text Box 4"/>
          <p:cNvSpPr txBox="1"/>
          <p:nvPr/>
        </p:nvSpPr>
        <p:spPr>
          <a:xfrm>
            <a:off x="525780" y="749300"/>
            <a:ext cx="6291580" cy="706755"/>
          </a:xfrm>
          <a:prstGeom prst="rect">
            <a:avLst/>
          </a:prstGeom>
          <a:noFill/>
        </p:spPr>
        <p:txBody>
          <a:bodyPr wrap="square" rtlCol="0">
            <a:noAutofit/>
          </a:bodyPr>
          <a:p>
            <a:r>
              <a:rPr lang="en-IN" dirty="0">
                <a:solidFill>
                  <a:schemeClr val="accent5">
                    <a:lumMod val="75000"/>
                  </a:schemeClr>
                </a:solidFill>
                <a:sym typeface="+mn-ea"/>
              </a:rPr>
              <a:t> </a:t>
            </a:r>
            <a:r>
              <a:rPr lang="en-US" altLang="en-IN" dirty="0">
                <a:solidFill>
                  <a:schemeClr val="accent5">
                    <a:lumMod val="75000"/>
                  </a:schemeClr>
                </a:solidFill>
                <a:sym typeface="+mn-ea"/>
              </a:rPr>
              <a:t>     </a:t>
            </a:r>
            <a:r>
              <a:rPr lang="en-IN" sz="2000" dirty="0">
                <a:solidFill>
                  <a:schemeClr val="accent6">
                    <a:lumMod val="50000"/>
                  </a:schemeClr>
                </a:solidFill>
                <a:latin typeface="Times New Roman" panose="02020603050405020304" pitchFamily="18" charset="0"/>
                <a:cs typeface="Times New Roman" panose="02020603050405020304" pitchFamily="18" charset="0"/>
                <a:sym typeface="+mn-ea"/>
              </a:rPr>
              <a:t>CLASS DIAGRAM</a:t>
            </a:r>
            <a:endParaRPr lang="en-US" sz="200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7159625" y="850900"/>
            <a:ext cx="4646295" cy="5146675"/>
          </a:xfrm>
          <a:prstGeom prst="rect">
            <a:avLst/>
          </a:prstGeom>
        </p:spPr>
      </p:pic>
      <p:sp>
        <p:nvSpPr>
          <p:cNvPr id="3" name="Text Box 2"/>
          <p:cNvSpPr txBox="1"/>
          <p:nvPr/>
        </p:nvSpPr>
        <p:spPr>
          <a:xfrm>
            <a:off x="1095375" y="1636395"/>
            <a:ext cx="5097145" cy="3138170"/>
          </a:xfrm>
          <a:prstGeom prst="rect">
            <a:avLst/>
          </a:prstGeom>
          <a:noFill/>
        </p:spPr>
        <p:txBody>
          <a:bodyPr wrap="square" rtlCol="0">
            <a:spAutoFit/>
          </a:bodyPr>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User class : </a:t>
            </a:r>
            <a:r>
              <a:rPr lang="en-US" altLang="en-US">
                <a:latin typeface="Times New Roman" panose="02020603050405020304" pitchFamily="18" charset="0"/>
                <a:cs typeface="Times New Roman" panose="02020603050405020304" pitchFamily="18" charset="0"/>
              </a:rPr>
              <a:t>Handles registration, login, and rating prediction by providing app details such as name, category, installs, reviews, size, and price.</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AppDetails class :</a:t>
            </a:r>
            <a:r>
              <a:rPr lang="en-US" altLang="en-US">
                <a:latin typeface="Times New Roman" panose="02020603050405020304" pitchFamily="18" charset="0"/>
                <a:cs typeface="Times New Roman" panose="02020603050405020304" pitchFamily="18" charset="0"/>
              </a:rPr>
              <a:t> Stores all app-related features and sends this data to the ML model for prediction.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MLModel class : </a:t>
            </a:r>
            <a:r>
              <a:rPr lang="en-US" altLang="en-US">
                <a:latin typeface="Times New Roman" panose="02020603050405020304" pitchFamily="18" charset="0"/>
                <a:cs typeface="Times New Roman" panose="02020603050405020304" pitchFamily="18" charset="0"/>
              </a:rPr>
              <a:t>Performs training and prediction using selected algorithms and outputs the forecasted app rating.</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Admin class</a:t>
            </a:r>
            <a:r>
              <a:rPr lang="en-US" altLang="en-US">
                <a:latin typeface="Times New Roman" panose="02020603050405020304" pitchFamily="18" charset="0"/>
                <a:cs typeface="Times New Roman" panose="02020603050405020304" pitchFamily="18" charset="0"/>
              </a:rPr>
              <a:t> : Manages the system by uploading datasets and training the model, while controlling the MLModel operations.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746500" y="603250"/>
            <a:ext cx="4055110" cy="398780"/>
          </a:xfrm>
          <a:prstGeom prst="rect">
            <a:avLst/>
          </a:prstGeom>
          <a:noFill/>
        </p:spPr>
        <p:txBody>
          <a:bodyPr wrap="square" rtlCol="0">
            <a:spAutoFit/>
          </a:bodyPr>
          <a:p>
            <a:r>
              <a:rPr lang="en-US" altLang="en-IN" dirty="0">
                <a:ln w="0"/>
                <a:solidFill>
                  <a:schemeClr val="accent6">
                    <a:lumMod val="50000"/>
                  </a:schemeClr>
                </a:solidFill>
                <a:effectLst>
                  <a:outerShdw blurRad="38100" dist="19050" dir="2700000" algn="tl" rotWithShape="0">
                    <a:schemeClr val="dk1">
                      <a:alpha val="40000"/>
                    </a:schemeClr>
                  </a:outerShdw>
                </a:effectLst>
                <a:sym typeface="+mn-ea"/>
              </a:rPr>
              <a:t>        </a:t>
            </a:r>
            <a:r>
              <a:rPr lang="en-IN" sz="200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USECASE DIAGRAM</a:t>
            </a:r>
            <a:r>
              <a:rPr lang="en-US" altLang="en-IN" sz="200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dirty="0">
                <a:ln w="0"/>
                <a:solidFill>
                  <a:schemeClr val="accent6">
                    <a:lumMod val="50000"/>
                  </a:schemeClr>
                </a:solidFill>
                <a:effectLst>
                  <a:outerShdw blurRad="38100" dist="19050" dir="2700000" algn="tl" rotWithShape="0">
                    <a:schemeClr val="dk1">
                      <a:alpha val="40000"/>
                    </a:schemeClr>
                  </a:outerShdw>
                </a:effectLst>
                <a:sym typeface="+mn-ea"/>
              </a:rPr>
              <a:t> </a:t>
            </a:r>
            <a:endParaRPr lang="en-US" altLang="en-IN" dirty="0">
              <a:ln w="0"/>
              <a:solidFill>
                <a:schemeClr val="accent6">
                  <a:lumMod val="50000"/>
                </a:schemeClr>
              </a:solidFill>
              <a:effectLst>
                <a:outerShdw blurRad="38100" dist="19050" dir="2700000" algn="tl" rotWithShape="0">
                  <a:schemeClr val="dk1">
                    <a:alpha val="40000"/>
                  </a:schemeClr>
                </a:outerShdw>
              </a:effectLst>
              <a:sym typeface="+mn-ea"/>
            </a:endParaRPr>
          </a:p>
        </p:txBody>
      </p:sp>
      <p:sp>
        <p:nvSpPr>
          <p:cNvPr id="2" name="Text Box 1"/>
          <p:cNvSpPr txBox="1"/>
          <p:nvPr/>
        </p:nvSpPr>
        <p:spPr>
          <a:xfrm>
            <a:off x="409575" y="1266825"/>
            <a:ext cx="5539105" cy="2563495"/>
          </a:xfrm>
          <a:prstGeom prst="rect">
            <a:avLst/>
          </a:prstGeom>
          <a:noFill/>
        </p:spPr>
        <p:txBody>
          <a:bodyPr wrap="square" rtlCol="0">
            <a:noAutofit/>
          </a:bodyPr>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User provides app details such as reviews, ratings, and app features to the system.</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system cleans, processes, and prepares the input data for analysis.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machine learning model analyzes the data and predicts the app rating.</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system displays the predicted rating and insights to the user.</a:t>
            </a:r>
            <a:endParaRPr lang="en-US" alt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1"/>
          <a:stretch>
            <a:fillRect/>
          </a:stretch>
        </p:blipFill>
        <p:spPr>
          <a:xfrm>
            <a:off x="6445885" y="1392555"/>
            <a:ext cx="5126990" cy="45834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3024505" y="347345"/>
            <a:ext cx="5791200" cy="697865"/>
          </a:xfrm>
          <a:prstGeom prst="rect">
            <a:avLst/>
          </a:prstGeom>
          <a:noFill/>
        </p:spPr>
        <p:txBody>
          <a:bodyPr wrap="square" rtlCol="0">
            <a:noAutofit/>
          </a:bodyPr>
          <a:p>
            <a:r>
              <a:rPr lang="en-US" altLang="en-IN" dirty="0">
                <a:ln w="0"/>
                <a:solidFill>
                  <a:schemeClr val="accent6">
                    <a:lumMod val="50000"/>
                  </a:schemeClr>
                </a:solidFill>
                <a:effectLst>
                  <a:outerShdw blurRad="38100" dist="19050" dir="2700000" algn="tl" rotWithShape="0">
                    <a:schemeClr val="dk1">
                      <a:alpha val="40000"/>
                    </a:schemeClr>
                  </a:outerShdw>
                </a:effectLst>
                <a:sym typeface="+mn-ea"/>
              </a:rPr>
              <a:t>                 </a:t>
            </a:r>
            <a:r>
              <a:rPr lang="en-IN" sz="200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SEQUENCE DIAGRAM</a:t>
            </a:r>
            <a:endParaRPr lang="en-IN" sz="2000" b="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631825" y="2659380"/>
            <a:ext cx="10287000" cy="3750945"/>
          </a:xfrm>
          <a:prstGeom prst="rect">
            <a:avLst/>
          </a:prstGeom>
        </p:spPr>
      </p:pic>
      <p:sp>
        <p:nvSpPr>
          <p:cNvPr id="4" name="Text Box 3"/>
          <p:cNvSpPr txBox="1"/>
          <p:nvPr/>
        </p:nvSpPr>
        <p:spPr>
          <a:xfrm>
            <a:off x="1002665" y="859155"/>
            <a:ext cx="10683240" cy="2206625"/>
          </a:xfrm>
          <a:prstGeom prst="rect">
            <a:avLst/>
          </a:prstGeom>
          <a:noFill/>
        </p:spPr>
        <p:txBody>
          <a:bodyPr wrap="square" rtlCol="0">
            <a:noAutofit/>
          </a:bodyPr>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User logs into the system through the web interface, and credentials are validated using the database.</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After successful login, the user enters app details, which are processed and sent as input features.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web interface forwards these features to the machine learning model to predict the app rating.</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predicted rating is returned from the model, stored if needed, and displayed to the user as the final result.</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736975" y="511810"/>
            <a:ext cx="4575810" cy="706755"/>
          </a:xfrm>
          <a:prstGeom prst="rect">
            <a:avLst/>
          </a:prstGeom>
          <a:noFill/>
        </p:spPr>
        <p:txBody>
          <a:bodyPr wrap="square" rtlCol="0">
            <a:spAutoFit/>
          </a:bodyPr>
          <a:p>
            <a:r>
              <a:rPr lang="en-US" altLang="en-IN" dirty="0">
                <a:ln w="0"/>
                <a:solidFill>
                  <a:schemeClr val="accent6">
                    <a:lumMod val="50000"/>
                  </a:schemeClr>
                </a:solidFill>
                <a:effectLst>
                  <a:outerShdw blurRad="38100" dist="19050" dir="2700000" algn="tl" rotWithShape="0">
                    <a:schemeClr val="dk1">
                      <a:alpha val="40000"/>
                    </a:schemeClr>
                  </a:outerShdw>
                </a:effectLst>
                <a:sym typeface="+mn-ea"/>
              </a:rPr>
              <a:t>          </a:t>
            </a:r>
            <a:r>
              <a:rPr lang="en-IN" sz="200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COLLABORATION DIAGRAM</a:t>
            </a:r>
            <a:endParaRPr lang="en-IN" sz="2000" b="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4775835" y="1488440"/>
            <a:ext cx="6541135" cy="3277870"/>
          </a:xfrm>
          <a:prstGeom prst="rect">
            <a:avLst/>
          </a:prstGeom>
        </p:spPr>
      </p:pic>
      <p:sp>
        <p:nvSpPr>
          <p:cNvPr id="2" name="Text Box 1"/>
          <p:cNvSpPr txBox="1"/>
          <p:nvPr/>
        </p:nvSpPr>
        <p:spPr>
          <a:xfrm>
            <a:off x="344170" y="1106170"/>
            <a:ext cx="4328795" cy="4806315"/>
          </a:xfrm>
          <a:prstGeom prst="rect">
            <a:avLst/>
          </a:prstGeom>
          <a:noFill/>
        </p:spPr>
        <p:txBody>
          <a:bodyPr wrap="square" rtlCol="0">
            <a:noAutofit/>
          </a:bodyPr>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User interacts with the web interface (Django) by entering app details, which initiates the prediction process.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web interface collaborates with the app dataset to retrieve and send historical data required for analysis.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Processed features are passed from the web interface to the prediction module (Random Forest model) for rating prediction.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predicted rating is returned to the web interface and then displayed to the user as the final output.</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ext Box 7"/>
          <p:cNvSpPr txBox="1"/>
          <p:nvPr/>
        </p:nvSpPr>
        <p:spPr>
          <a:xfrm>
            <a:off x="3352800" y="447675"/>
            <a:ext cx="5453380" cy="405765"/>
          </a:xfrm>
          <a:prstGeom prst="rect">
            <a:avLst/>
          </a:prstGeom>
          <a:noFill/>
        </p:spPr>
        <p:txBody>
          <a:bodyPr wrap="square" rtlCol="0">
            <a:noAutofit/>
          </a:bodyPr>
          <a:p>
            <a:r>
              <a:rPr lang="en-US" altLang="en-IN" sz="200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IN" sz="200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DEPLOYMENT DIAGRAM</a:t>
            </a:r>
            <a:endParaRPr lang="en-IN" sz="2000" b="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323850" y="1666875"/>
            <a:ext cx="4513580" cy="4502785"/>
          </a:xfrm>
          <a:prstGeom prst="rect">
            <a:avLst/>
          </a:prstGeom>
        </p:spPr>
      </p:pic>
      <p:sp>
        <p:nvSpPr>
          <p:cNvPr id="2" name="Text Box 1"/>
          <p:cNvSpPr txBox="1"/>
          <p:nvPr/>
        </p:nvSpPr>
        <p:spPr>
          <a:xfrm>
            <a:off x="5913755" y="1508125"/>
            <a:ext cx="5489575" cy="3138170"/>
          </a:xfrm>
          <a:prstGeom prst="rect">
            <a:avLst/>
          </a:prstGeom>
          <a:noFill/>
        </p:spPr>
        <p:txBody>
          <a:bodyPr wrap="square" rtlCol="0">
            <a:spAutoFit/>
          </a:bodyPr>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User interacts with the system through a browser on the user device to enter app details and request rating prediction.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request is sent to the web server where the Django application processes inputs and manages system operations.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Django app communicates with the database to store and retrieve app data and historical information.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web server connects with the ML engine(Random Forest model) to generate predicted ratings, which are sent back and displayed to the user.</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453130" y="392430"/>
            <a:ext cx="5654675" cy="480695"/>
          </a:xfrm>
          <a:prstGeom prst="rect">
            <a:avLst/>
          </a:prstGeom>
          <a:noFill/>
        </p:spPr>
        <p:txBody>
          <a:bodyPr wrap="square" rtlCol="0">
            <a:noAutofit/>
          </a:bodyPr>
          <a:p>
            <a:r>
              <a:rPr lang="en-US" altLang="en-IN" dirty="0">
                <a:ln w="0"/>
                <a:solidFill>
                  <a:schemeClr val="accent6">
                    <a:lumMod val="50000"/>
                  </a:schemeClr>
                </a:solidFill>
                <a:effectLst>
                  <a:outerShdw blurRad="38100" dist="19050" dir="2700000" algn="tl" rotWithShape="0">
                    <a:schemeClr val="dk1">
                      <a:alpha val="40000"/>
                    </a:schemeClr>
                  </a:outerShdw>
                </a:effectLst>
                <a:sym typeface="+mn-ea"/>
              </a:rPr>
              <a:t>                </a:t>
            </a:r>
            <a:r>
              <a:rPr lang="en-US" altLang="en-IN" sz="200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IN" sz="200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ACTIVITY DIAGRAM</a:t>
            </a:r>
            <a:endParaRPr lang="en-IN" sz="2000" b="0"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481330" y="1393190"/>
            <a:ext cx="5657850" cy="4428490"/>
          </a:xfrm>
          <a:prstGeom prst="rect">
            <a:avLst/>
          </a:prstGeom>
        </p:spPr>
      </p:pic>
      <p:sp>
        <p:nvSpPr>
          <p:cNvPr id="2" name="Text Box 1"/>
          <p:cNvSpPr txBox="1"/>
          <p:nvPr/>
        </p:nvSpPr>
        <p:spPr>
          <a:xfrm>
            <a:off x="6772910" y="1316355"/>
            <a:ext cx="4822190" cy="3138170"/>
          </a:xfrm>
          <a:prstGeom prst="rect">
            <a:avLst/>
          </a:prstGeom>
          <a:noFill/>
        </p:spPr>
        <p:txBody>
          <a:bodyPr wrap="square" rtlCol="0">
            <a:spAutoFit/>
          </a:bodyPr>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User logs into the system if credentials are valid, the process continues, otherwise an error message is displayed.</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After successful login, the user enters app details, and the system performs data preprocessing.</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processed data is given to the machine learning model to analyze and predict the app rating.</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predicted rating is generated and displayed to the user as the final output.</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2820035" y="2395855"/>
            <a:ext cx="6205220" cy="461645"/>
          </a:xfrm>
          <a:prstGeom prst="rect">
            <a:avLst/>
          </a:prstGeom>
          <a:noFill/>
        </p:spPr>
        <p:txBody>
          <a:bodyPr wrap="square" rtlCol="0">
            <a:noAutofit/>
          </a:bodyPr>
          <a:p>
            <a:r>
              <a:rPr lang="en-US" sz="2400" dirty="0" smtClean="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rPr>
              <a:t>(IMPLEMENTATION, TESTING &amp; RESULTS)</a:t>
            </a:r>
            <a:endParaRPr lang="en-US" sz="2400" dirty="0">
              <a:latin typeface="Times New Roman" panose="02020603050405020304" pitchFamily="18" charset="0"/>
              <a:cs typeface="Times New Roman" panose="02020603050405020304" pitchFamily="18" charset="0"/>
            </a:endParaRPr>
          </a:p>
          <a:p>
            <a:endParaRPr lang="en-US"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048000" y="2911475"/>
            <a:ext cx="6096000" cy="778510"/>
          </a:xfrm>
          <a:prstGeom prst="rect">
            <a:avLst/>
          </a:prstGeom>
          <a:noFill/>
        </p:spPr>
        <p:txBody>
          <a:bodyPr wrap="square" rtlCol="0" anchor="t">
            <a:noAutofit/>
          </a:bodyPr>
          <a:p>
            <a:pPr algn="ctr"/>
            <a:r>
              <a:rPr lang="en-US" sz="2800" b="1" dirty="0" smtClean="0">
                <a:solidFill>
                  <a:srgbClr val="0033CC"/>
                </a:solidFill>
                <a:latin typeface="Times New Roman" panose="02020603050405020304" pitchFamily="18" charset="0"/>
                <a:cs typeface="Times New Roman" panose="02020603050405020304" pitchFamily="18" charset="0"/>
                <a:sym typeface="+mn-ea"/>
              </a:rPr>
              <a:t>IMPLEMENTATION</a:t>
            </a:r>
            <a:endParaRPr lang="en-US" sz="2800" b="1" dirty="0" smtClean="0">
              <a:solidFill>
                <a:srgbClr val="0033CC"/>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44855" y="473075"/>
            <a:ext cx="10353040" cy="8623935"/>
          </a:xfrm>
          <a:prstGeom prst="rect">
            <a:avLst/>
          </a:prstGeom>
          <a:noFill/>
        </p:spPr>
        <p:txBody>
          <a:bodyPr wrap="square" rtlCol="0">
            <a:noAutofit/>
          </a:bodyPr>
          <a:p>
            <a:r>
              <a:rPr lang="en-US" altLang="en-US" b="1">
                <a:latin typeface="Times New Roman" panose="02020603050405020304" pitchFamily="18" charset="0"/>
                <a:cs typeface="Times New Roman" panose="02020603050405020304" pitchFamily="18" charset="0"/>
              </a:rPr>
              <a:t>The key functions involved in the implementation of the Mobile App Rating Estimation System are:</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a:t>1. </a:t>
            </a:r>
            <a:r>
              <a:rPr lang="en-US" altLang="en-US" b="1">
                <a:latin typeface="Times New Roman" panose="02020603050405020304" pitchFamily="18" charset="0"/>
                <a:cs typeface="Times New Roman" panose="02020603050405020304" pitchFamily="18" charset="0"/>
              </a:rPr>
              <a:t>Data Input Function :</a:t>
            </a:r>
            <a:endParaRPr lang="en-US" altLang="en-US" b="1">
              <a:latin typeface="Times New Roman" panose="02020603050405020304" pitchFamily="18" charset="0"/>
              <a:cs typeface="Times New Roman" panose="02020603050405020304" pitchFamily="18" charset="0"/>
            </a:endParaRPr>
          </a:p>
          <a:p>
            <a:r>
              <a:rPr lang="en-US" altLang="en-US"/>
              <a:t>   Allows the system to collect mobile app data such as app name, category, number of downloads, user reviews, size, and price.</a:t>
            </a:r>
            <a:endParaRPr lang="en-US" altLang="en-US"/>
          </a:p>
          <a:p>
            <a:endParaRPr lang="en-US" altLang="en-US"/>
          </a:p>
          <a:p>
            <a:r>
              <a:rPr lang="en-US" altLang="en-US"/>
              <a:t>2. </a:t>
            </a:r>
            <a:r>
              <a:rPr lang="en-US" altLang="en-US" b="1">
                <a:latin typeface="Times New Roman" panose="02020603050405020304" pitchFamily="18" charset="0"/>
                <a:cs typeface="Times New Roman" panose="02020603050405020304" pitchFamily="18" charset="0"/>
              </a:rPr>
              <a:t>Data Preprocessing Function:</a:t>
            </a:r>
            <a:endParaRPr lang="en-US" altLang="en-US" b="1">
              <a:latin typeface="Times New Roman" panose="02020603050405020304" pitchFamily="18" charset="0"/>
              <a:cs typeface="Times New Roman" panose="02020603050405020304" pitchFamily="18" charset="0"/>
            </a:endParaRPr>
          </a:p>
          <a:p>
            <a:r>
              <a:rPr lang="en-US" altLang="en-US"/>
              <a:t>   Cleans and prepares the collected data by handling missing values, removing duplicates, and converting categorical data into numerical format.</a:t>
            </a:r>
            <a:endParaRPr lang="en-US" altLang="en-US"/>
          </a:p>
          <a:p>
            <a:endParaRPr lang="en-US" altLang="en-US"/>
          </a:p>
          <a:p>
            <a:r>
              <a:rPr lang="en-US" altLang="en-US"/>
              <a:t>3. </a:t>
            </a:r>
            <a:r>
              <a:rPr lang="en-US" altLang="en-US" b="1">
                <a:latin typeface="Times New Roman" panose="02020603050405020304" pitchFamily="18" charset="0"/>
                <a:cs typeface="Times New Roman" panose="02020603050405020304" pitchFamily="18" charset="0"/>
              </a:rPr>
              <a:t>Model Training Function:</a:t>
            </a:r>
            <a:endParaRPr lang="en-US" altLang="en-US" b="1">
              <a:latin typeface="Times New Roman" panose="02020603050405020304" pitchFamily="18" charset="0"/>
              <a:cs typeface="Times New Roman" panose="02020603050405020304" pitchFamily="18" charset="0"/>
            </a:endParaRPr>
          </a:p>
          <a:p>
            <a:r>
              <a:rPr lang="en-US" altLang="en-US"/>
              <a:t>   Uses the processed dataset to train the machine learning model so it can learn the relationship between app features and ratings.</a:t>
            </a:r>
            <a:endParaRPr lang="en-US" altLang="en-US"/>
          </a:p>
          <a:p>
            <a:endParaRPr lang="en-US" altLang="en-US"/>
          </a:p>
          <a:p>
            <a:r>
              <a:rPr lang="en-US" altLang="en-US"/>
              <a:t>4. </a:t>
            </a:r>
            <a:r>
              <a:rPr lang="en-US" altLang="en-US" b="1">
                <a:latin typeface="Times New Roman" panose="02020603050405020304" pitchFamily="18" charset="0"/>
                <a:cs typeface="Times New Roman" panose="02020603050405020304" pitchFamily="18" charset="0"/>
              </a:rPr>
              <a:t>Prediction Function:</a:t>
            </a:r>
            <a:endParaRPr lang="en-US" altLang="en-US" b="1">
              <a:latin typeface="Times New Roman" panose="02020603050405020304" pitchFamily="18" charset="0"/>
              <a:cs typeface="Times New Roman" panose="02020603050405020304" pitchFamily="18" charset="0"/>
            </a:endParaRPr>
          </a:p>
          <a:p>
            <a:r>
              <a:rPr lang="en-US" altLang="en-US"/>
              <a:t>   Takes new app details as input and uses the trained model to estimate the expected rating of the mobile application.</a:t>
            </a:r>
            <a:endParaRPr lang="en-US" altLang="en-US"/>
          </a:p>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Text Box 9"/>
          <p:cNvSpPr txBox="1"/>
          <p:nvPr/>
        </p:nvSpPr>
        <p:spPr>
          <a:xfrm>
            <a:off x="498475" y="830580"/>
            <a:ext cx="9923145" cy="5692140"/>
          </a:xfrm>
          <a:prstGeom prst="rect">
            <a:avLst/>
          </a:prstGeom>
          <a:noFill/>
        </p:spPr>
        <p:txBody>
          <a:bodyPr wrap="square" rtlCol="0">
            <a:noAutofit/>
          </a:bodyPr>
          <a:p>
            <a:endParaRPr lang="en-US" altLang="en-US"/>
          </a:p>
          <a:p>
            <a:endParaRPr lang="en-US" altLang="en-US"/>
          </a:p>
          <a:p>
            <a:r>
              <a:rPr lang="en-US" altLang="en-US"/>
              <a:t>           </a:t>
            </a:r>
            <a:endParaRPr lang="en-US" altLang="en-US"/>
          </a:p>
          <a:p>
            <a:r>
              <a:rPr lang="en-US" altLang="en-US"/>
              <a:t>       </a:t>
            </a:r>
            <a:endParaRPr lang="en-US" altLang="en-US"/>
          </a:p>
          <a:p>
            <a:endParaRPr lang="en-US" altLang="en-US"/>
          </a:p>
          <a:p>
            <a:r>
              <a:rPr lang="en-US" altLang="en-US"/>
              <a:t>  </a:t>
            </a:r>
            <a:endParaRPr lang="en-US" altLang="en-US"/>
          </a:p>
        </p:txBody>
      </p:sp>
      <p:sp>
        <p:nvSpPr>
          <p:cNvPr id="12" name="Text Box 11"/>
          <p:cNvSpPr txBox="1"/>
          <p:nvPr/>
        </p:nvSpPr>
        <p:spPr>
          <a:xfrm>
            <a:off x="760730" y="863600"/>
            <a:ext cx="9919335" cy="5659120"/>
          </a:xfrm>
          <a:prstGeom prst="rect">
            <a:avLst/>
          </a:prstGeom>
        </p:spPr>
        <p:txBody>
          <a:bodyPr wrap="square">
            <a:noAutofit/>
          </a:bodyPr>
          <a:p>
            <a:pPr>
              <a:lnSpc>
                <a:spcPct val="100000"/>
              </a:lnSpc>
            </a:pPr>
            <a:r>
              <a:rPr lang="en-US" altLang="en-US" b="1">
                <a:solidFill>
                  <a:schemeClr val="tx1"/>
                </a:solidFill>
                <a:latin typeface="Times New Roman" panose="02020603050405020304" pitchFamily="18" charset="0"/>
                <a:ea typeface="Consolas" panose="020B0609020204030204"/>
                <a:cs typeface="Times New Roman" panose="02020603050405020304" pitchFamily="18" charset="0"/>
              </a:rPr>
              <a:t># Required Libraries</a:t>
            </a:r>
            <a:endParaRPr lang="en-US" altLang="en-US" b="1">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from django.shortcuts import render, redirect</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from django.contrib import messages</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from Users.forms import UserRegisterForm</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from Users.models import UserRegisterModel</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import pandas as pd</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import joblib</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from sklearn.model_selection import train_test_split</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from sklearn.preprocessing import LabelEncoder</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from sklearn.ensemble import RandomForestRegressor</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from sklearn.metrics import mean_absolute_error, mean_squared_error</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b="1">
                <a:solidFill>
                  <a:schemeClr val="tx1"/>
                </a:solidFill>
                <a:latin typeface="Times New Roman" panose="02020603050405020304" pitchFamily="18" charset="0"/>
                <a:ea typeface="Consolas" panose="020B0609020204030204"/>
                <a:cs typeface="Times New Roman" panose="02020603050405020304" pitchFamily="18" charset="0"/>
              </a:rPr>
              <a:t># User Registration System</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def UserRegister(request):</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    if request.method == 'POST':</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        form = UserRegisterForm(request.POST)</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        if form.is_valid():</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            form.save()</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            return redirect('Userlogin')</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    else:</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        form = UserRegisterForm()</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rPr>
              <a:t>    return render(request, 'Userregister.html', {'form': form})</a:t>
            </a: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endParaRPr lang="en-US" altLang="en-US" sz="1400">
              <a:solidFill>
                <a:schemeClr val="tx1"/>
              </a:solidFill>
              <a:latin typeface="Times New Roman" panose="02020603050405020304" pitchFamily="18" charset="0"/>
              <a:ea typeface="Consolas" panose="020B0609020204030204"/>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10565" y="67945"/>
            <a:ext cx="8695690" cy="17487900"/>
          </a:xfrm>
          <a:prstGeom prst="rect">
            <a:avLst/>
          </a:prstGeom>
          <a:noFill/>
        </p:spPr>
        <p:txBody>
          <a:bodyPr wrap="square" rtlCol="0">
            <a:noAutofit/>
          </a:bodyPr>
          <a:p>
            <a:r>
              <a:rPr lang="en-US" altLang="en-US" b="1">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Machine Learning Model Architecture</a:t>
            </a:r>
            <a:endParaRPr lang="en-US" altLang="en-US" sz="12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def train_model():</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df = pd.read_csv("media/googleplaystore.csv")</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df.dropna(inplace=True)</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le = LabelEncoder()</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df['Category'] = le.fit_transform(df['Category'])</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X = df[['Reviews', 'Installs']]</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y = df['Rating']</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X_train, X_test, y_train, y_test = train_test_split(X, y, test_size=0.2)</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model = RandomForestRegressor()</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model.fit(X_train, y_train)</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pred = model.predict(X_test)</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mae = mean_absolute_error(y_test, pred)</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mse = mean_squared_error(y_test, pred)</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joblib.dump(model, "media/rf_model.pkl")</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return mae, mse</a:t>
            </a:r>
            <a:endParaRPr lang="en-US" altLang="en-US" sz="1400">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App Rating Prediction</a:t>
            </a:r>
            <a:endParaRPr lang="en-US" altLang="en-US" sz="12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def Prediction(request):</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if request.method == 'POST':</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reviews = int(request.POST['reviews'])</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installs = int(request.POST['installs'])</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model = joblib.load("media/rf_model.pkl")</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result = model.predict([[reviews, installs]])</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return render(request, 'users/predication.html', {</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'prediction': round(result[0], 2)</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a:t>
            </a:r>
            <a:endParaRPr lang="en-US" altLang="en-US" sz="1400">
              <a:latin typeface="Times New Roman" panose="02020603050405020304" pitchFamily="18" charset="0"/>
              <a:cs typeface="Times New Roman" panose="02020603050405020304" pitchFamily="18" charset="0"/>
            </a:endParaRPr>
          </a:p>
          <a:p>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    return render(request, 'users/predication.html')</a:t>
            </a:r>
            <a:endParaRPr lang="en-US" altLang="en-US" sz="1400">
              <a:latin typeface="Times New Roman" panose="02020603050405020304" pitchFamily="18" charset="0"/>
              <a:cs typeface="Times New Roman" panose="02020603050405020304" pitchFamily="18" charset="0"/>
            </a:endParaRPr>
          </a:p>
          <a:p>
            <a:endParaRPr lang="en-US" altLang="en-US"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91770" y="255270"/>
            <a:ext cx="11616055" cy="6602730"/>
          </a:xfrm>
          <a:prstGeom prst="rect">
            <a:avLst/>
          </a:prstGeom>
        </p:spPr>
        <p:txBody>
          <a:bodyPr wrap="square">
            <a:noAutofit/>
          </a:bodyPr>
          <a:p>
            <a:pPr>
              <a:lnSpc>
                <a:spcPct val="100000"/>
              </a:lnSpc>
            </a:pPr>
            <a:r>
              <a:rPr b="1" i="1">
                <a:solidFill>
                  <a:schemeClr val="tx1"/>
                </a:solidFill>
                <a:latin typeface="Times New Roman" panose="02020603050405020304" pitchFamily="18" charset="0"/>
                <a:ea typeface="Consolas" panose="020B0609020204030204"/>
                <a:cs typeface="Times New Roman" panose="02020603050405020304" pitchFamily="18" charset="0"/>
              </a:rPr>
              <a:t># </a:t>
            </a:r>
            <a:r>
              <a:rPr b="1">
                <a:solidFill>
                  <a:schemeClr val="tx1"/>
                </a:solidFill>
                <a:latin typeface="Times New Roman" panose="02020603050405020304" pitchFamily="18" charset="0"/>
                <a:ea typeface="Consolas" panose="020B0609020204030204"/>
                <a:cs typeface="Times New Roman" panose="02020603050405020304" pitchFamily="18" charset="0"/>
              </a:rPr>
              <a:t>Training View</a:t>
            </a:r>
            <a:endParaRPr b="1">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d</a:t>
            </a:r>
            <a:r>
              <a:rPr sz="1400" b="0">
                <a:solidFill>
                  <a:schemeClr val="tx1"/>
                </a:solidFill>
                <a:latin typeface="Times New Roman" panose="02020603050405020304" pitchFamily="18" charset="0"/>
                <a:ea typeface="Consolas" panose="020B0609020204030204"/>
                <a:cs typeface="Times New Roman" panose="02020603050405020304" pitchFamily="18" charset="0"/>
              </a:rPr>
              <a:t>eftraining(request):</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    mae,mse=train_model()</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    returnrender(request,'users/training.html',{'mae':mae,'mse':mse})</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b="1" i="1">
                <a:solidFill>
                  <a:schemeClr val="tx1"/>
                </a:solidFill>
                <a:latin typeface="Times New Roman" panose="02020603050405020304" pitchFamily="18" charset="0"/>
                <a:ea typeface="Consolas" panose="020B0609020204030204"/>
                <a:cs typeface="Times New Roman" panose="02020603050405020304" pitchFamily="18" charset="0"/>
              </a:rPr>
              <a:t># </a:t>
            </a:r>
            <a:r>
              <a:rPr b="1">
                <a:solidFill>
                  <a:schemeClr val="tx1"/>
                </a:solidFill>
                <a:latin typeface="Times New Roman" panose="02020603050405020304" pitchFamily="18" charset="0"/>
                <a:ea typeface="Consolas" panose="020B0609020204030204"/>
                <a:cs typeface="Times New Roman" panose="02020603050405020304" pitchFamily="18" charset="0"/>
              </a:rPr>
              <a:t>Prediction</a:t>
            </a:r>
            <a:endParaRPr b="1">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defPrediction(request):</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    ifrequest.method=='POST':</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        reviews=int(request.POST['reviews'])</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        installs=int(request.POST['installs'])</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        model=joblib.load("media/rf_model.pkl")</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        result=model.predict([[reviews,installs]])</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        returnrender(request,'users/predication.html',{'prediction':round(result[0],2)})</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sz="1400" b="0">
                <a:solidFill>
                  <a:schemeClr val="tx1"/>
                </a:solidFill>
                <a:latin typeface="Times New Roman" panose="02020603050405020304" pitchFamily="18" charset="0"/>
                <a:ea typeface="Consolas" panose="020B0609020204030204"/>
                <a:cs typeface="Times New Roman" panose="02020603050405020304" pitchFamily="18" charset="0"/>
              </a:rPr>
              <a:t>    returnrender(request,'users/predication.html')</a:t>
            </a:r>
            <a:endParaRPr sz="1400" b="0">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b="1">
                <a:solidFill>
                  <a:schemeClr val="tx1"/>
                </a:solidFill>
                <a:latin typeface="Times New Roman" panose="02020603050405020304" pitchFamily="18" charset="0"/>
                <a:ea typeface="Consolas" panose="020B0609020204030204"/>
                <a:cs typeface="Times New Roman" panose="02020603050405020304" pitchFamily="18" charset="0"/>
              </a:rPr>
              <a:t>#System Flow</a:t>
            </a:r>
            <a:endParaRPr lang="en-US" b="1">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b="1">
                <a:solidFill>
                  <a:schemeClr val="tx1"/>
                </a:solidFill>
                <a:latin typeface="Times New Roman" panose="02020603050405020304" pitchFamily="18" charset="0"/>
                <a:ea typeface="Consolas" panose="020B0609020204030204"/>
                <a:cs typeface="Times New Roman" panose="02020603050405020304" pitchFamily="18" charset="0"/>
              </a:rPr>
              <a:t>                  </a:t>
            </a:r>
            <a:endParaRPr lang="en-US" b="1">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b="1">
                <a:solidFill>
                  <a:schemeClr val="tx1"/>
                </a:solidFill>
                <a:latin typeface="Times New Roman" panose="02020603050405020304" pitchFamily="18" charset="0"/>
                <a:ea typeface="Consolas" panose="020B0609020204030204"/>
                <a:cs typeface="Times New Roman" panose="02020603050405020304" pitchFamily="18" charset="0"/>
              </a:rPr>
              <a:t>                     </a:t>
            </a:r>
            <a:r>
              <a:rPr lang="en-US" altLang="en-US">
                <a:solidFill>
                  <a:schemeClr val="tx1"/>
                </a:solidFill>
                <a:latin typeface="Times New Roman" panose="02020603050405020304" pitchFamily="18" charset="0"/>
                <a:ea typeface="Consolas" panose="020B0609020204030204"/>
                <a:cs typeface="Times New Roman" panose="02020603050405020304" pitchFamily="18" charset="0"/>
              </a:rPr>
              <a:t>User</a:t>
            </a:r>
            <a:endParaRPr lang="en-US" altLang="en-US">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a:solidFill>
                  <a:schemeClr val="tx1"/>
                </a:solidFill>
                <a:latin typeface="Times New Roman" panose="02020603050405020304" pitchFamily="18" charset="0"/>
                <a:ea typeface="Consolas" panose="020B0609020204030204"/>
                <a:cs typeface="Times New Roman" panose="02020603050405020304" pitchFamily="18" charset="0"/>
              </a:rPr>
              <a:t>                         ↓</a:t>
            </a:r>
            <a:endParaRPr lang="en-US" altLang="en-US">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a:solidFill>
                  <a:schemeClr val="tx1"/>
                </a:solidFill>
                <a:latin typeface="Times New Roman" panose="02020603050405020304" pitchFamily="18" charset="0"/>
                <a:ea typeface="Consolas" panose="020B0609020204030204"/>
                <a:cs typeface="Times New Roman" panose="02020603050405020304" pitchFamily="18" charset="0"/>
              </a:rPr>
              <a:t>            Login &amp; Input Data</a:t>
            </a:r>
            <a:endParaRPr lang="en-US" altLang="en-US">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a:solidFill>
                  <a:schemeClr val="tx1"/>
                </a:solidFill>
                <a:latin typeface="Times New Roman" panose="02020603050405020304" pitchFamily="18" charset="0"/>
                <a:ea typeface="Consolas" panose="020B0609020204030204"/>
                <a:cs typeface="Times New Roman" panose="02020603050405020304" pitchFamily="18" charset="0"/>
              </a:rPr>
              <a:t>                         ↓</a:t>
            </a:r>
            <a:endParaRPr lang="en-US" altLang="en-US">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a:solidFill>
                  <a:schemeClr val="tx1"/>
                </a:solidFill>
                <a:latin typeface="Times New Roman" panose="02020603050405020304" pitchFamily="18" charset="0"/>
                <a:ea typeface="Consolas" panose="020B0609020204030204"/>
                <a:cs typeface="Times New Roman" panose="02020603050405020304" pitchFamily="18" charset="0"/>
              </a:rPr>
              <a:t>          Data Preprocessing</a:t>
            </a:r>
            <a:endParaRPr lang="en-US" altLang="en-US">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a:solidFill>
                  <a:schemeClr val="tx1"/>
                </a:solidFill>
                <a:latin typeface="Times New Roman" panose="02020603050405020304" pitchFamily="18" charset="0"/>
                <a:ea typeface="Consolas" panose="020B0609020204030204"/>
                <a:cs typeface="Times New Roman" panose="02020603050405020304" pitchFamily="18" charset="0"/>
              </a:rPr>
              <a:t>                        ↓</a:t>
            </a:r>
            <a:endParaRPr lang="en-US" altLang="en-US">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a:solidFill>
                  <a:schemeClr val="tx1"/>
                </a:solidFill>
                <a:latin typeface="Times New Roman" panose="02020603050405020304" pitchFamily="18" charset="0"/>
                <a:ea typeface="Consolas" panose="020B0609020204030204"/>
                <a:cs typeface="Times New Roman" panose="02020603050405020304" pitchFamily="18" charset="0"/>
              </a:rPr>
              <a:t>            ML Model</a:t>
            </a:r>
            <a:endParaRPr lang="en-US" altLang="en-US">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a:solidFill>
                  <a:schemeClr val="tx1"/>
                </a:solidFill>
                <a:latin typeface="Times New Roman" panose="02020603050405020304" pitchFamily="18" charset="0"/>
                <a:ea typeface="Consolas" panose="020B0609020204030204"/>
                <a:cs typeface="Times New Roman" panose="02020603050405020304" pitchFamily="18" charset="0"/>
              </a:rPr>
              <a:t>                       ↓</a:t>
            </a:r>
            <a:endParaRPr lang="en-US" altLang="en-US">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r>
              <a:rPr lang="en-US" altLang="en-US">
                <a:solidFill>
                  <a:schemeClr val="tx1"/>
                </a:solidFill>
                <a:latin typeface="Times New Roman" panose="02020603050405020304" pitchFamily="18" charset="0"/>
                <a:ea typeface="Consolas" panose="020B0609020204030204"/>
                <a:cs typeface="Times New Roman" panose="02020603050405020304" pitchFamily="18" charset="0"/>
              </a:rPr>
              <a:t>             Predicted Rating</a:t>
            </a:r>
            <a:endParaRPr lang="en-US" altLang="en-US">
              <a:solidFill>
                <a:schemeClr val="tx1"/>
              </a:solidFill>
              <a:latin typeface="Times New Roman" panose="02020603050405020304" pitchFamily="18" charset="0"/>
              <a:ea typeface="Consolas" panose="020B0609020204030204"/>
              <a:cs typeface="Times New Roman" panose="02020603050405020304" pitchFamily="18" charset="0"/>
            </a:endParaRPr>
          </a:p>
          <a:p>
            <a:pPr>
              <a:lnSpc>
                <a:spcPct val="100000"/>
              </a:lnSpc>
            </a:pPr>
            <a:endParaRPr lang="en-US" altLang="en-US">
              <a:solidFill>
                <a:schemeClr val="tx1"/>
              </a:solidFill>
              <a:latin typeface="Times New Roman" panose="02020603050405020304" pitchFamily="18" charset="0"/>
              <a:ea typeface="Consolas" panose="020B0609020204030204"/>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3048000" y="3168015"/>
            <a:ext cx="6096000" cy="521970"/>
          </a:xfrm>
          <a:prstGeom prst="rect">
            <a:avLst/>
          </a:prstGeom>
          <a:noFill/>
        </p:spPr>
        <p:txBody>
          <a:bodyPr wrap="square" rtlCol="0" anchor="t">
            <a:spAutoFit/>
          </a:bodyPr>
          <a:p>
            <a:pPr algn="ctr"/>
            <a:r>
              <a:rPr lang="en-US" sz="2800" b="1" dirty="0" smtClean="0">
                <a:solidFill>
                  <a:srgbClr val="0033CC"/>
                </a:solidFill>
                <a:latin typeface="Times New Roman" panose="02020603050405020304" pitchFamily="18" charset="0"/>
                <a:cs typeface="Times New Roman" panose="02020603050405020304" pitchFamily="18" charset="0"/>
                <a:sym typeface="+mn-ea"/>
              </a:rPr>
              <a:t>TESTING </a:t>
            </a:r>
            <a:endParaRPr lang="en-US" sz="2800" b="1" dirty="0" smtClean="0">
              <a:solidFill>
                <a:srgbClr val="0033CC"/>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227965" y="467995"/>
            <a:ext cx="11736705" cy="6009640"/>
          </a:xfrm>
          <a:prstGeom prst="rect">
            <a:avLst/>
          </a:prstGeom>
          <a:noFill/>
        </p:spPr>
        <p:txBody>
          <a:bodyPr wrap="square" rtlCol="0">
            <a:noAutofit/>
          </a:bodyPr>
          <a:p>
            <a:r>
              <a:rPr lang="en-US" altLang="en-US" b="1">
                <a:latin typeface="Times New Roman" panose="02020603050405020304" pitchFamily="18" charset="0"/>
                <a:cs typeface="Times New Roman" panose="02020603050405020304" pitchFamily="18" charset="0"/>
              </a:rPr>
              <a:t>Testing</a:t>
            </a:r>
            <a:r>
              <a:rPr lang="en-US" altLang="en-US"/>
              <a:t> </a:t>
            </a:r>
            <a:r>
              <a:rPr lang="en-US" altLang="en-US">
                <a:latin typeface="Times New Roman" panose="02020603050405020304" pitchFamily="18" charset="0"/>
                <a:cs typeface="Times New Roman" panose="02020603050405020304" pitchFamily="18" charset="0"/>
              </a:rPr>
              <a:t>is the process of evaluating a software system to ensure it works correctly and produces accurate results. In this project, testing mainly involves Functional Testing, White Box Testing, Black Box Testing, User Acceptance Testing, and Integration Testing.</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pPr indent="0">
              <a:buFont typeface="+mj-lt"/>
              <a:buNone/>
            </a:pPr>
            <a:r>
              <a:rPr lang="en-US" altLang="en-US" b="1">
                <a:latin typeface="Times New Roman" panose="02020603050405020304" pitchFamily="18" charset="0"/>
                <a:cs typeface="Times New Roman" panose="02020603050405020304" pitchFamily="18" charset="0"/>
              </a:rPr>
              <a:t>Functional Testing</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Functional testing verifies whether the system functions work correctly according to requirements. </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In this project it includes: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User registration and login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Dataset loading functionality</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Model training process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App details input (reviews, installs)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App rating prediction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Display of predicted rating result</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Black Box Testing</a:t>
            </a:r>
            <a:endParaRPr lang="en-US" altLang="en-US"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In this project, black box testing is used to verify whether the system works correctly when a user interacts with it.</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Example in this project:</a:t>
            </a:r>
            <a:endParaRPr lang="en-US" altLang="en-US"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Entering app details like reviews and installs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Checking if the system predicts the rating correctly</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Verifying whether the predicted result is displayed to the user</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Table 4"/>
          <p:cNvGraphicFramePr/>
          <p:nvPr>
            <p:custDataLst>
              <p:tags r:id="rId1"/>
            </p:custDataLst>
          </p:nvPr>
        </p:nvGraphicFramePr>
        <p:xfrm>
          <a:off x="864235" y="842010"/>
          <a:ext cx="9386570" cy="2934970"/>
        </p:xfrm>
        <a:graphic>
          <a:graphicData uri="http://schemas.openxmlformats.org/drawingml/2006/table">
            <a:tbl>
              <a:tblPr/>
              <a:tblGrid>
                <a:gridCol w="3119755"/>
                <a:gridCol w="3133090"/>
                <a:gridCol w="3133725"/>
              </a:tblGrid>
              <a:tr h="397510">
                <a:tc>
                  <a:txBody>
                    <a:bodyPr/>
                    <a:p>
                      <a:r>
                        <a:rPr sz="1800" b="1">
                          <a:latin typeface="Times New Roman" panose="02020603050405020304" pitchFamily="18" charset="0"/>
                          <a:cs typeface="Times New Roman" panose="02020603050405020304" pitchFamily="18" charset="0"/>
                        </a:rPr>
                        <a:t>Test Case</a:t>
                      </a:r>
                      <a:endParaRPr sz="18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b="1">
                          <a:latin typeface="Times New Roman" panose="02020603050405020304" pitchFamily="18" charset="0"/>
                          <a:cs typeface="Times New Roman" panose="02020603050405020304" pitchFamily="18" charset="0"/>
                        </a:rPr>
                        <a:t>Input</a:t>
                      </a:r>
                      <a:endParaRPr sz="18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b="1">
                          <a:latin typeface="Times New Roman" panose="02020603050405020304" pitchFamily="18" charset="0"/>
                          <a:cs typeface="Times New Roman" panose="02020603050405020304" pitchFamily="18" charset="0"/>
                        </a:rPr>
                        <a:t>Expected Output</a:t>
                      </a:r>
                      <a:endParaRPr sz="18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r>
              <a:tr h="398145">
                <a:tc>
                  <a:txBody>
                    <a:bodyPr/>
                    <a:p>
                      <a:r>
                        <a:rPr sz="1800">
                          <a:latin typeface="Times New Roman" panose="02020603050405020304" pitchFamily="18" charset="0"/>
                          <a:cs typeface="Times New Roman" panose="02020603050405020304" pitchFamily="18" charset="0"/>
                        </a:rPr>
                        <a:t>User Registration</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User details</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Account created successfully</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r>
              <a:tr h="397510">
                <a:tc>
                  <a:txBody>
                    <a:bodyPr/>
                    <a:p>
                      <a:r>
                        <a:rPr sz="1800">
                          <a:latin typeface="Times New Roman" panose="02020603050405020304" pitchFamily="18" charset="0"/>
                          <a:cs typeface="Times New Roman" panose="02020603050405020304" pitchFamily="18" charset="0"/>
                        </a:rPr>
                        <a:t>User Login</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Username &amp; Password</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User logged in successfully</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r>
              <a:tr h="397510">
                <a:tc>
                  <a:txBody>
                    <a:bodyPr/>
                    <a:p>
                      <a:r>
                        <a:rPr sz="1800">
                          <a:latin typeface="Times New Roman" panose="02020603050405020304" pitchFamily="18" charset="0"/>
                          <a:cs typeface="Times New Roman" panose="02020603050405020304" pitchFamily="18" charset="0"/>
                        </a:rPr>
                        <a:t>Dataset Loading</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CSV file</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Data displayed correctly</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r>
              <a:tr h="548640">
                <a:tc>
                  <a:txBody>
                    <a:bodyPr/>
                    <a:p>
                      <a:r>
                        <a:rPr sz="1800">
                          <a:latin typeface="Times New Roman" panose="02020603050405020304" pitchFamily="18" charset="0"/>
                          <a:cs typeface="Times New Roman" panose="02020603050405020304" pitchFamily="18" charset="0"/>
                        </a:rPr>
                        <a:t>Model Training</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Training dataset</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Model trained with accuracy values</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r>
              <a:tr h="398145">
                <a:tc>
                  <a:txBody>
                    <a:bodyPr/>
                    <a:p>
                      <a:r>
                        <a:rPr sz="1800">
                          <a:latin typeface="Times New Roman" panose="02020603050405020304" pitchFamily="18" charset="0"/>
                          <a:cs typeface="Times New Roman" panose="02020603050405020304" pitchFamily="18" charset="0"/>
                        </a:rPr>
                        <a:t>Rating Prediction</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Reviews &amp; Installs</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Predicted rating generated</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r>
              <a:tr h="397510">
                <a:tc>
                  <a:txBody>
                    <a:bodyPr/>
                    <a:p>
                      <a:r>
                        <a:rPr sz="1800">
                          <a:latin typeface="Times New Roman" panose="02020603050405020304" pitchFamily="18" charset="0"/>
                          <a:cs typeface="Times New Roman" panose="02020603050405020304" pitchFamily="18" charset="0"/>
                        </a:rPr>
                        <a:t>Result Display</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Prediction result</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c>
                  <a:txBody>
                    <a:bodyPr/>
                    <a:p>
                      <a:r>
                        <a:rPr sz="1800">
                          <a:latin typeface="Times New Roman" panose="02020603050405020304" pitchFamily="18" charset="0"/>
                          <a:cs typeface="Times New Roman" panose="02020603050405020304" pitchFamily="18" charset="0"/>
                        </a:rPr>
                        <a:t>Rating displayed to user</a:t>
                      </a:r>
                      <a:endParaRPr sz="18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solidFill>
                      <a:schemeClr val="bg2"/>
                    </a:solidFill>
                  </a:tcPr>
                </a:tc>
              </a:tr>
            </a:tbl>
          </a:graphicData>
        </a:graphic>
      </p:graphicFrame>
      <p:sp>
        <p:nvSpPr>
          <p:cNvPr id="6" name="Text Box 5"/>
          <p:cNvSpPr txBox="1"/>
          <p:nvPr/>
        </p:nvSpPr>
        <p:spPr>
          <a:xfrm>
            <a:off x="728980" y="315595"/>
            <a:ext cx="4064000" cy="368300"/>
          </a:xfrm>
          <a:prstGeom prst="rect">
            <a:avLst/>
          </a:prstGeom>
          <a:noFill/>
        </p:spPr>
        <p:txBody>
          <a:bodyPr wrap="square" rtlCol="0">
            <a:spAutoFit/>
          </a:bodyPr>
          <a:p>
            <a:r>
              <a:rPr lang="en-US" altLang="en-US"/>
              <a:t>Example Test Cases</a:t>
            </a:r>
            <a:endParaRPr lang="en-US" altLang="en-US"/>
          </a:p>
        </p:txBody>
      </p:sp>
      <p:sp>
        <p:nvSpPr>
          <p:cNvPr id="7" name="Text Box 6"/>
          <p:cNvSpPr txBox="1"/>
          <p:nvPr/>
        </p:nvSpPr>
        <p:spPr>
          <a:xfrm>
            <a:off x="913765" y="4092575"/>
            <a:ext cx="10267950" cy="645160"/>
          </a:xfrm>
          <a:prstGeom prst="rect">
            <a:avLst/>
          </a:prstGeom>
          <a:noFill/>
        </p:spPr>
        <p:txBody>
          <a:bodyPr wrap="square" rtlCol="0">
            <a:spAutoFit/>
          </a:bodyPr>
          <a:p>
            <a:r>
              <a:rPr lang="en-US" altLang="en-US" b="1">
                <a:latin typeface="Times New Roman" panose="02020603050405020304" pitchFamily="18" charset="0"/>
                <a:cs typeface="Times New Roman" panose="02020603050405020304" pitchFamily="18" charset="0"/>
              </a:rPr>
              <a:t>White Box Testing</a:t>
            </a:r>
            <a:endParaRPr lang="en-US" altLang="en-US"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White box testing focuses on testing the internal logic and code structure of the system.</a:t>
            </a:r>
            <a:endParaRPr lang="en-US" altLang="en-US">
              <a:latin typeface="Times New Roman" panose="02020603050405020304" pitchFamily="18" charset="0"/>
              <a:cs typeface="Times New Roman" panose="02020603050405020304" pitchFamily="18" charset="0"/>
            </a:endParaRPr>
          </a:p>
        </p:txBody>
      </p:sp>
      <p:sp>
        <p:nvSpPr>
          <p:cNvPr id="8" name="Text Box 7"/>
          <p:cNvSpPr txBox="1"/>
          <p:nvPr/>
        </p:nvSpPr>
        <p:spPr>
          <a:xfrm>
            <a:off x="924560" y="4737735"/>
            <a:ext cx="10441940" cy="2120265"/>
          </a:xfrm>
          <a:prstGeom prst="rect">
            <a:avLst/>
          </a:prstGeom>
          <a:noFill/>
        </p:spPr>
        <p:txBody>
          <a:bodyPr wrap="square" rtlCol="0">
            <a:noAutofit/>
          </a:bodyPr>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Verifies data preprocessing functions like handling missing values and encoding.</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Checks correctness of model training logic and algorithm implementation.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Validates input-output flow inside functions.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Ensures proper working of conditions, loops, and error handling.</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Tests integration of dataset with machine learning model.</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02590" y="381000"/>
            <a:ext cx="11465560" cy="645160"/>
          </a:xfrm>
          <a:prstGeom prst="rect">
            <a:avLst/>
          </a:prstGeom>
          <a:noFill/>
        </p:spPr>
        <p:txBody>
          <a:bodyPr wrap="square" rtlCol="0">
            <a:spAutoFit/>
          </a:bodyPr>
          <a:p>
            <a:r>
              <a:rPr lang="en-US" altLang="en-US" b="1"/>
              <a:t>I</a:t>
            </a:r>
            <a:r>
              <a:rPr lang="en-US" altLang="en-US" b="1">
                <a:latin typeface="Times New Roman" panose="02020603050405020304" pitchFamily="18" charset="0"/>
                <a:cs typeface="Times New Roman" panose="02020603050405020304" pitchFamily="18" charset="0"/>
              </a:rPr>
              <a:t>ntegration Testing</a:t>
            </a:r>
            <a:endParaRPr lang="en-US" altLang="en-US"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Integration testing ensures that different modules of the system work together correctly.</a:t>
            </a:r>
            <a:endParaRPr lang="en-US" altLang="en-US">
              <a:latin typeface="Times New Roman" panose="02020603050405020304" pitchFamily="18" charset="0"/>
              <a:cs typeface="Times New Roman" panose="02020603050405020304" pitchFamily="18" charset="0"/>
            </a:endParaRPr>
          </a:p>
        </p:txBody>
      </p:sp>
      <p:sp>
        <p:nvSpPr>
          <p:cNvPr id="6" name="Text Box 5"/>
          <p:cNvSpPr txBox="1"/>
          <p:nvPr/>
        </p:nvSpPr>
        <p:spPr>
          <a:xfrm>
            <a:off x="678815" y="1026795"/>
            <a:ext cx="11335385" cy="636905"/>
          </a:xfrm>
          <a:prstGeom prst="rect">
            <a:avLst/>
          </a:prstGeom>
          <a:noFill/>
        </p:spPr>
        <p:txBody>
          <a:bodyPr wrap="square" rtlCol="0">
            <a:noAutofit/>
          </a:bodyPr>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Checks connection between frontend (user interface) and backend (Django)</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Verifies data flow from dataset → preprocessing → model → prediction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Ensures model loading and prediction modules work properly together</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Tests interaction between database and application.</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Confirms that all modules function as a complete system.</a:t>
            </a:r>
            <a:endParaRPr lang="en-US" altLang="en-US">
              <a:latin typeface="Times New Roman" panose="02020603050405020304" pitchFamily="18" charset="0"/>
              <a:cs typeface="Times New Roman" panose="02020603050405020304" pitchFamily="18" charset="0"/>
            </a:endParaRPr>
          </a:p>
        </p:txBody>
      </p:sp>
      <p:sp>
        <p:nvSpPr>
          <p:cNvPr id="7" name="Text Box 6"/>
          <p:cNvSpPr txBox="1"/>
          <p:nvPr/>
        </p:nvSpPr>
        <p:spPr>
          <a:xfrm>
            <a:off x="588010" y="2666365"/>
            <a:ext cx="10104755" cy="956310"/>
          </a:xfrm>
          <a:prstGeom prst="rect">
            <a:avLst/>
          </a:prstGeom>
          <a:noFill/>
        </p:spPr>
        <p:txBody>
          <a:bodyPr wrap="square" rtlCol="0">
            <a:noAutofit/>
          </a:bodyPr>
          <a:p>
            <a:r>
              <a:rPr lang="en-US" altLang="en-US" b="1">
                <a:latin typeface="Times New Roman" panose="02020603050405020304" pitchFamily="18" charset="0"/>
                <a:cs typeface="Times New Roman" panose="02020603050405020304" pitchFamily="18" charset="0"/>
              </a:rPr>
              <a:t>User Acceptance Testing (UAT)</a:t>
            </a:r>
            <a:endParaRPr lang="en-US" altLang="en-US"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User Acceptance Testing ensures the system meets user requirements and is ready for real-world use.</a:t>
            </a:r>
            <a:endParaRPr lang="en-US" altLang="en-US">
              <a:latin typeface="Times New Roman" panose="02020603050405020304" pitchFamily="18" charset="0"/>
              <a:cs typeface="Times New Roman" panose="02020603050405020304" pitchFamily="18" charset="0"/>
            </a:endParaRPr>
          </a:p>
        </p:txBody>
      </p:sp>
      <p:sp>
        <p:nvSpPr>
          <p:cNvPr id="8" name="Text Box 7"/>
          <p:cNvSpPr txBox="1"/>
          <p:nvPr/>
        </p:nvSpPr>
        <p:spPr>
          <a:xfrm>
            <a:off x="587375" y="3331845"/>
            <a:ext cx="10977245" cy="3186430"/>
          </a:xfrm>
          <a:prstGeom prst="rect">
            <a:avLst/>
          </a:prstGeom>
          <a:noFill/>
        </p:spPr>
        <p:txBody>
          <a:bodyPr wrap="square" rtlCol="0">
            <a:noAutofit/>
          </a:bodyPr>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Users test the system by entering app details and checking predictions.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Verifies whether the predicted rating is understandable and useful.</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Ensures system is user-friendly and easy to navigate.</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Checks overall performance and response time.</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Confirms the system satisfies project objectives and user expectations.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505960" y="2776220"/>
            <a:ext cx="4880610" cy="612140"/>
          </a:xfrm>
          <a:prstGeom prst="rect">
            <a:avLst/>
          </a:prstGeom>
          <a:noFill/>
        </p:spPr>
        <p:txBody>
          <a:bodyPr wrap="square" rtlCol="0">
            <a:noAutofit/>
          </a:bodyPr>
          <a:p>
            <a:r>
              <a:rPr lang="en-US" sz="3200" b="1" dirty="0">
                <a:solidFill>
                  <a:schemeClr val="accent2">
                    <a:lumMod val="75000"/>
                  </a:schemeClr>
                </a:solidFill>
                <a:latin typeface="Times New Roman" panose="02020603050405020304" pitchFamily="18" charset="0"/>
                <a:cs typeface="Times New Roman" panose="02020603050405020304" pitchFamily="18" charset="0"/>
                <a:sym typeface="+mn-ea"/>
              </a:rPr>
              <a:t>RESULTS</a:t>
            </a:r>
            <a:endParaRPr lang="en-IN" sz="3200" b="1" dirty="0">
              <a:solidFill>
                <a:schemeClr val="accent2">
                  <a:lumMod val="75000"/>
                </a:schemeClr>
              </a:solidFill>
              <a:latin typeface="Times New Roman" panose="02020603050405020304" pitchFamily="18" charset="0"/>
              <a:cs typeface="Times New Roman" panose="02020603050405020304" pitchFamily="18" charset="0"/>
            </a:endParaRPr>
          </a:p>
          <a:p>
            <a:endParaRPr lang="en-US" sz="3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99110" y="474345"/>
            <a:ext cx="7417435" cy="393700"/>
          </a:xfrm>
          <a:prstGeom prst="rect">
            <a:avLst/>
          </a:prstGeom>
          <a:noFill/>
        </p:spPr>
        <p:txBody>
          <a:bodyPr wrap="square" rtlCol="0">
            <a:noAutofit/>
          </a:bodyPr>
          <a:p>
            <a:r>
              <a:rPr lang="en-IN" dirty="0" smtClean="0">
                <a:latin typeface="Times New Roman" panose="02020603050405020304" pitchFamily="18" charset="0"/>
                <a:cs typeface="Times New Roman" panose="02020603050405020304" pitchFamily="18" charset="0"/>
                <a:sym typeface="+mn-ea"/>
              </a:rPr>
              <a:t>Screen </a:t>
            </a:r>
            <a:r>
              <a:rPr lang="en-US" altLang="en-IN" dirty="0" smtClean="0">
                <a:latin typeface="Times New Roman" panose="02020603050405020304" pitchFamily="18" charset="0"/>
                <a:cs typeface="Times New Roman" panose="02020603050405020304" pitchFamily="18" charset="0"/>
                <a:sym typeface="+mn-ea"/>
              </a:rPr>
              <a:t>1</a:t>
            </a:r>
            <a:r>
              <a:rPr lang="en-IN" dirty="0" smtClean="0">
                <a:latin typeface="Times New Roman" panose="02020603050405020304" pitchFamily="18" charset="0"/>
                <a:cs typeface="Times New Roman" panose="02020603050405020304" pitchFamily="18" charset="0"/>
                <a:sym typeface="+mn-ea"/>
              </a:rPr>
              <a:t>: </a:t>
            </a:r>
            <a:r>
              <a:rPr lang="en-US" dirty="0">
                <a:latin typeface="Times New Roman" panose="02020603050405020304" pitchFamily="18" charset="0"/>
                <a:cs typeface="Times New Roman" panose="02020603050405020304" pitchFamily="18" charset="0"/>
                <a:sym typeface="+mn-ea"/>
              </a:rPr>
              <a:t>Home screen Page</a:t>
            </a:r>
            <a:endParaRPr lang="en-US"/>
          </a:p>
        </p:txBody>
      </p:sp>
      <p:pic>
        <p:nvPicPr>
          <p:cNvPr id="7" name="Picture 6"/>
          <p:cNvPicPr/>
          <p:nvPr/>
        </p:nvPicPr>
        <p:blipFill>
          <a:blip r:embed="rId1"/>
          <a:stretch>
            <a:fillRect/>
          </a:stretch>
        </p:blipFill>
        <p:spPr>
          <a:xfrm>
            <a:off x="1023620" y="1005840"/>
            <a:ext cx="9137015" cy="469519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66420" y="313055"/>
            <a:ext cx="4587875" cy="434340"/>
          </a:xfrm>
          <a:prstGeom prst="rect">
            <a:avLst/>
          </a:prstGeom>
          <a:noFill/>
        </p:spPr>
        <p:txBody>
          <a:bodyPr wrap="square" rtlCol="0">
            <a:noAutofit/>
          </a:bodyPr>
          <a:p>
            <a:r>
              <a:rPr lang="en-IN" dirty="0" smtClean="0">
                <a:latin typeface="Times New Roman" panose="02020603050405020304" pitchFamily="18" charset="0"/>
                <a:cs typeface="Times New Roman" panose="02020603050405020304" pitchFamily="18" charset="0"/>
                <a:sym typeface="+mn-ea"/>
              </a:rPr>
              <a:t>Screen </a:t>
            </a:r>
            <a:r>
              <a:rPr lang="en-US" altLang="en-IN" dirty="0" smtClean="0">
                <a:latin typeface="Times New Roman" panose="02020603050405020304" pitchFamily="18" charset="0"/>
                <a:cs typeface="Times New Roman" panose="02020603050405020304" pitchFamily="18" charset="0"/>
                <a:sym typeface="+mn-ea"/>
              </a:rPr>
              <a:t>2</a:t>
            </a:r>
            <a:r>
              <a:rPr lang="en-IN" dirty="0" smtClean="0">
                <a:latin typeface="Times New Roman" panose="02020603050405020304" pitchFamily="18" charset="0"/>
                <a:cs typeface="Times New Roman" panose="02020603050405020304" pitchFamily="18" charset="0"/>
                <a:sym typeface="+mn-ea"/>
              </a:rPr>
              <a:t>: User Registration form</a:t>
            </a:r>
            <a:endParaRPr lang="en-US" dirty="0">
              <a:latin typeface="Times New Roman" panose="02020603050405020304" pitchFamily="18" charset="0"/>
              <a:cs typeface="Times New Roman" panose="02020603050405020304" pitchFamily="18" charset="0"/>
            </a:endParaRPr>
          </a:p>
          <a:p>
            <a:endParaRPr lang="en-US"/>
          </a:p>
        </p:txBody>
      </p:sp>
      <p:pic>
        <p:nvPicPr>
          <p:cNvPr id="5" name="Picture 4"/>
          <p:cNvPicPr/>
          <p:nvPr/>
        </p:nvPicPr>
        <p:blipFill>
          <a:blip r:embed="rId1"/>
          <a:stretch>
            <a:fillRect/>
          </a:stretch>
        </p:blipFill>
        <p:spPr>
          <a:xfrm>
            <a:off x="875665" y="746760"/>
            <a:ext cx="9016365" cy="513905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893445" y="803910"/>
            <a:ext cx="4499610" cy="368300"/>
          </a:xfrm>
          <a:prstGeom prst="rect">
            <a:avLst/>
          </a:prstGeom>
          <a:noFill/>
        </p:spPr>
        <p:txBody>
          <a:bodyPr wrap="square" rtlCol="0">
            <a:spAutoFit/>
          </a:bodyPr>
          <a:p>
            <a:r>
              <a:rPr lang="en-US" dirty="0" smtClean="0">
                <a:latin typeface="Times New Roman" panose="02020603050405020304" pitchFamily="18" charset="0"/>
                <a:ea typeface="Times New Roman" panose="02020603050405020304" pitchFamily="18" charset="0"/>
                <a:cs typeface="Times New Roman" panose="02020603050405020304" pitchFamily="18" charset="0"/>
                <a:sym typeface="+mn-ea"/>
              </a:rPr>
              <a:t>S</a:t>
            </a:r>
            <a:r>
              <a:rPr lang="en-US"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creen 3:Admin Login Form</a:t>
            </a:r>
            <a:endParaRPr lang="en-US"/>
          </a:p>
        </p:txBody>
      </p:sp>
      <p:pic>
        <p:nvPicPr>
          <p:cNvPr id="6" name="Picture 5"/>
          <p:cNvPicPr/>
          <p:nvPr/>
        </p:nvPicPr>
        <p:blipFill>
          <a:blip r:embed="rId1"/>
          <a:stretch>
            <a:fillRect/>
          </a:stretch>
        </p:blipFill>
        <p:spPr>
          <a:xfrm>
            <a:off x="893445" y="1506855"/>
            <a:ext cx="9639935" cy="476758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91565" y="635000"/>
            <a:ext cx="4064000" cy="645160"/>
          </a:xfrm>
          <a:prstGeom prst="rect">
            <a:avLst/>
          </a:prstGeom>
          <a:noFill/>
        </p:spPr>
        <p:txBody>
          <a:bodyPr wrap="square" rtlCol="0">
            <a:spAutoFit/>
          </a:bodyPr>
          <a:p>
            <a:r>
              <a:rPr lang="en-US" dirty="0" smtClean="0">
                <a:latin typeface="Times New Roman" panose="02020603050405020304" pitchFamily="18" charset="0"/>
                <a:ea typeface="Times New Roman" panose="02020603050405020304" pitchFamily="18" charset="0"/>
                <a:cs typeface="Times New Roman" panose="02020603050405020304" pitchFamily="18" charset="0"/>
                <a:sym typeface="+mn-ea"/>
              </a:rPr>
              <a:t>Screen 4 :Image Prediction Page</a:t>
            </a:r>
            <a:endParaRPr lang="en-US" dirty="0" smtClean="0">
              <a:latin typeface="Times New Roman" panose="02020603050405020304" pitchFamily="18" charset="0"/>
              <a:cs typeface="Times New Roman" panose="02020603050405020304" pitchFamily="18" charset="0"/>
            </a:endParaRPr>
          </a:p>
          <a:p>
            <a:endParaRPr lang="en-US"/>
          </a:p>
        </p:txBody>
      </p:sp>
      <p:pic>
        <p:nvPicPr>
          <p:cNvPr id="5" name="Picture 4"/>
          <p:cNvPicPr/>
          <p:nvPr/>
        </p:nvPicPr>
        <p:blipFill>
          <a:blip r:embed="rId1"/>
          <a:stretch>
            <a:fillRect/>
          </a:stretch>
        </p:blipFill>
        <p:spPr>
          <a:xfrm>
            <a:off x="772795" y="1344295"/>
            <a:ext cx="9580245" cy="42545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11835" y="508000"/>
            <a:ext cx="4621530" cy="368300"/>
          </a:xfrm>
          <a:prstGeom prst="rect">
            <a:avLst/>
          </a:prstGeom>
          <a:noFill/>
        </p:spPr>
        <p:txBody>
          <a:bodyPr wrap="square" rtlCol="0">
            <a:spAutoFit/>
          </a:bodyPr>
          <a:p>
            <a:r>
              <a:rPr lang="en-US" dirty="0" smtClean="0">
                <a:latin typeface="Times New Roman" panose="02020603050405020304" pitchFamily="18" charset="0"/>
                <a:ea typeface="Times New Roman" panose="02020603050405020304" pitchFamily="18" charset="0"/>
                <a:cs typeface="Times New Roman" panose="02020603050405020304" pitchFamily="18" charset="0"/>
                <a:sym typeface="+mn-ea"/>
              </a:rPr>
              <a:t>Screen 5 : Prediction Output</a:t>
            </a:r>
            <a:endParaRPr lang="en-US"/>
          </a:p>
        </p:txBody>
      </p:sp>
      <p:pic>
        <p:nvPicPr>
          <p:cNvPr id="5" name="Picture 4"/>
          <p:cNvPicPr/>
          <p:nvPr/>
        </p:nvPicPr>
        <p:blipFill>
          <a:blip r:embed="rId1"/>
          <a:stretch>
            <a:fillRect/>
          </a:stretch>
        </p:blipFill>
        <p:spPr>
          <a:xfrm>
            <a:off x="711835" y="1201420"/>
            <a:ext cx="9917430" cy="4073525"/>
          </a:xfrm>
          <a:prstGeom prst="rect">
            <a:avLst/>
          </a:prstGeom>
        </p:spPr>
      </p:pic>
      <p:sp>
        <p:nvSpPr>
          <p:cNvPr id="6" name="Text Box 5"/>
          <p:cNvSpPr txBox="1"/>
          <p:nvPr/>
        </p:nvSpPr>
        <p:spPr>
          <a:xfrm>
            <a:off x="11798935" y="6023610"/>
            <a:ext cx="4064000" cy="368300"/>
          </a:xfrm>
          <a:prstGeom prst="rect">
            <a:avLst/>
          </a:prstGeom>
          <a:noFill/>
        </p:spPr>
        <p:txBody>
          <a:bodyPr wrap="square" rtlCol="0">
            <a:spAutoFit/>
          </a:bodyPr>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301490" y="558165"/>
            <a:ext cx="4071620" cy="351790"/>
          </a:xfrm>
          <a:prstGeom prst="rect">
            <a:avLst/>
          </a:prstGeom>
          <a:noFill/>
        </p:spPr>
        <p:txBody>
          <a:bodyPr wrap="square" rtlCol="0">
            <a:noAutofit/>
          </a:bodyPr>
          <a:p>
            <a:r>
              <a:rPr lang="en-US" sz="2400" b="1" dirty="0" smtClean="0">
                <a:solidFill>
                  <a:srgbClr val="0033CC"/>
                </a:solidFill>
                <a:latin typeface="Times New Roman" panose="02020603050405020304" pitchFamily="18" charset="0"/>
                <a:cs typeface="Times New Roman" panose="02020603050405020304" pitchFamily="18" charset="0"/>
                <a:sym typeface="+mn-ea"/>
              </a:rPr>
              <a:t>CONCLUSION</a:t>
            </a:r>
            <a:endParaRPr lang="en-US" sz="2400" b="1" dirty="0" smtClean="0">
              <a:solidFill>
                <a:srgbClr val="0033CC"/>
              </a:solidFill>
              <a:latin typeface="Times New Roman" panose="02020603050405020304" pitchFamily="18" charset="0"/>
              <a:cs typeface="Times New Roman" panose="02020603050405020304" pitchFamily="18" charset="0"/>
              <a:sym typeface="+mn-ea"/>
            </a:endParaRPr>
          </a:p>
        </p:txBody>
      </p:sp>
      <p:sp>
        <p:nvSpPr>
          <p:cNvPr id="5" name="Text Box 4"/>
          <p:cNvSpPr txBox="1"/>
          <p:nvPr/>
        </p:nvSpPr>
        <p:spPr>
          <a:xfrm>
            <a:off x="787400" y="1353820"/>
            <a:ext cx="10777855" cy="4697095"/>
          </a:xfrm>
          <a:prstGeom prst="rect">
            <a:avLst/>
          </a:prstGeom>
          <a:noFill/>
        </p:spPr>
        <p:txBody>
          <a:bodyPr wrap="square" rtlCol="0">
            <a:noAutofit/>
          </a:bodyPr>
          <a:p>
            <a:r>
              <a:rPr lang="en-US" altLang="en-US" sz="2000">
                <a:latin typeface="Times New Roman" panose="02020603050405020304" pitchFamily="18" charset="0"/>
                <a:cs typeface="Times New Roman" panose="02020603050405020304" pitchFamily="18" charset="0"/>
              </a:rPr>
              <a:t>The automated machine learning approach for mobile app rating estimation helps predict app ratings based on various features such as downloads, reviews, category, and size. By using machine learning algorithms, the system can analyze large amounts of app data efficiently. This approach improves accuracy in estimating ratings and helps developers understand factors influencing user feedback. It also supports better decision-making for improving app quality and user experience. Overall, the system provides a useful tool for predicting app performance in the competitive mobile application market.</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IN" sz="3200" b="1" dirty="0">
                <a:solidFill>
                  <a:srgbClr val="6666FF"/>
                </a:solidFill>
              </a:rPr>
              <a:t>REFERENCES</a:t>
            </a:r>
            <a:endParaRPr lang="en-IN" sz="3200" b="1" dirty="0">
              <a:solidFill>
                <a:srgbClr val="6666FF"/>
              </a:solidFill>
            </a:endParaRPr>
          </a:p>
        </p:txBody>
      </p:sp>
      <p:sp>
        <p:nvSpPr>
          <p:cNvPr id="5" name="TextBox 4"/>
          <p:cNvSpPr txBox="1"/>
          <p:nvPr/>
        </p:nvSpPr>
        <p:spPr>
          <a:xfrm>
            <a:off x="628650" y="1206500"/>
            <a:ext cx="11370945" cy="5592445"/>
          </a:xfrm>
          <a:prstGeom prst="rect">
            <a:avLst/>
          </a:prstGeom>
          <a:noFill/>
        </p:spPr>
        <p:txBody>
          <a:bodyPr wrap="square" rtlCol="0">
            <a:noAutofit/>
          </a:bodyPr>
          <a:lstStyle/>
          <a:p>
            <a:pPr marL="342900" lvl="0" indent="-342900" algn="just">
              <a:lnSpc>
                <a:spcPct val="90000"/>
              </a:lnSpc>
              <a:buFont typeface="+mj-lt"/>
              <a:buAutoNum type="arabicPeriod"/>
              <a:tabLst>
                <a:tab pos="269875" algn="l"/>
              </a:tabLst>
            </a:pPr>
            <a:r>
              <a:rPr lang="en-US" altLang="en-US" dirty="0">
                <a:latin typeface="Times New Roman" panose="02020603050405020304" pitchFamily="18" charset="0"/>
                <a:cs typeface="Times New Roman" panose="02020603050405020304" pitchFamily="18" charset="0"/>
                <a:sym typeface="+mn-ea"/>
              </a:rPr>
              <a:t> R. Gomes da Silva, J. de Oliveira Liberato Magalhães, I. R. Rodrigues Silva, R. Fagundes, E. Lima and A. Maciel, "Rating Prediction of Google Play Store apps with application of data mining techniques," in IEEE Latin America Transactions, vol. 19, no. 01, pp. 26-32, January 2021, </a:t>
            </a:r>
            <a:r>
              <a:rPr lang="en-US" altLang="en-US" dirty="0" err="1">
                <a:latin typeface="Times New Roman" panose="02020603050405020304" pitchFamily="18" charset="0"/>
                <a:cs typeface="Times New Roman" panose="02020603050405020304" pitchFamily="18" charset="0"/>
                <a:sym typeface="+mn-ea"/>
              </a:rPr>
              <a:t>doi</a:t>
            </a:r>
            <a:r>
              <a:rPr lang="en-US" altLang="en-US" dirty="0">
                <a:latin typeface="Times New Roman" panose="02020603050405020304" pitchFamily="18" charset="0"/>
                <a:cs typeface="Times New Roman" panose="02020603050405020304" pitchFamily="18" charset="0"/>
                <a:sym typeface="+mn-ea"/>
              </a:rPr>
              <a:t>: 10.1109/TLA.2021.9423823.</a:t>
            </a:r>
            <a:endParaRPr lang="en-US" altLang="en-US" dirty="0">
              <a:latin typeface="Times New Roman" panose="02020603050405020304" pitchFamily="18" charset="0"/>
              <a:cs typeface="Times New Roman" panose="02020603050405020304" pitchFamily="18" charset="0"/>
            </a:endParaRPr>
          </a:p>
          <a:p>
            <a:pPr marL="342900" lvl="0" indent="-342900" algn="just">
              <a:lnSpc>
                <a:spcPct val="90000"/>
              </a:lnSpc>
              <a:buFont typeface="+mj-lt"/>
              <a:buAutoNum type="arabicPeriod"/>
              <a:tabLst>
                <a:tab pos="269875" algn="l"/>
              </a:tabLst>
            </a:pPr>
            <a:endParaRPr lang="en-US" altLang="en-US" dirty="0">
              <a:latin typeface="Times New Roman" panose="02020603050405020304" pitchFamily="18" charset="0"/>
              <a:cs typeface="Times New Roman" panose="02020603050405020304" pitchFamily="18" charset="0"/>
              <a:sym typeface="+mn-ea"/>
            </a:endParaRPr>
          </a:p>
          <a:p>
            <a:pPr marL="342900" lvl="0" indent="-342900" algn="just">
              <a:lnSpc>
                <a:spcPct val="90000"/>
              </a:lnSpc>
              <a:buFont typeface="+mj-lt"/>
              <a:buAutoNum type="arabicPeriod"/>
              <a:tabLst>
                <a:tab pos="269875" algn="l"/>
              </a:tabLst>
            </a:pPr>
            <a:r>
              <a:rPr lang="en-US" altLang="en-US" dirty="0">
                <a:latin typeface="Times New Roman" panose="02020603050405020304" pitchFamily="18" charset="0"/>
                <a:cs typeface="Times New Roman" panose="02020603050405020304" pitchFamily="18" charset="0"/>
                <a:sym typeface="+mn-ea"/>
              </a:rPr>
              <a:t>Khattab O., </a:t>
            </a:r>
            <a:r>
              <a:rPr lang="en-US" altLang="en-US" dirty="0" err="1">
                <a:latin typeface="Times New Roman" panose="02020603050405020304" pitchFamily="18" charset="0"/>
                <a:cs typeface="Times New Roman" panose="02020603050405020304" pitchFamily="18" charset="0"/>
                <a:sym typeface="+mn-ea"/>
              </a:rPr>
              <a:t>Almetlaqem</a:t>
            </a:r>
            <a:r>
              <a:rPr lang="en-US" altLang="en-US" dirty="0">
                <a:latin typeface="Times New Roman" panose="02020603050405020304" pitchFamily="18" charset="0"/>
                <a:cs typeface="Times New Roman" panose="02020603050405020304" pitchFamily="18" charset="0"/>
                <a:sym typeface="+mn-ea"/>
              </a:rPr>
              <a:t> A., Almutairi D., </a:t>
            </a:r>
            <a:r>
              <a:rPr lang="en-US" altLang="en-US" dirty="0" err="1">
                <a:latin typeface="Times New Roman" panose="02020603050405020304" pitchFamily="18" charset="0"/>
                <a:cs typeface="Times New Roman" panose="02020603050405020304" pitchFamily="18" charset="0"/>
                <a:sym typeface="+mn-ea"/>
              </a:rPr>
              <a:t>Alnaser</a:t>
            </a:r>
            <a:r>
              <a:rPr lang="en-US" altLang="en-US" dirty="0">
                <a:latin typeface="Times New Roman" panose="02020603050405020304" pitchFamily="18" charset="0"/>
                <a:cs typeface="Times New Roman" panose="02020603050405020304" pitchFamily="18" charset="0"/>
                <a:sym typeface="+mn-ea"/>
              </a:rPr>
              <a:t> M., Almutairi M. "Prototype of new reliable airport luggage tracker system" International Journal of Emerging Technology and Advanced Engineering, Vol 11 Issue 8, pp. 42 - 47 Aug 2021, DOI: 10.46338/IJETAE0821_06</a:t>
            </a:r>
            <a:endParaRPr lang="en-US" altLang="en-US" dirty="0">
              <a:latin typeface="Times New Roman" panose="02020603050405020304" pitchFamily="18" charset="0"/>
              <a:cs typeface="Times New Roman" panose="02020603050405020304" pitchFamily="18" charset="0"/>
            </a:endParaRPr>
          </a:p>
          <a:p>
            <a:pPr marL="342900" lvl="0" indent="-342900" algn="just">
              <a:lnSpc>
                <a:spcPct val="70000"/>
              </a:lnSpc>
              <a:buFont typeface="+mj-lt"/>
              <a:buAutoNum type="arabicPeriod"/>
              <a:tabLst>
                <a:tab pos="269875" algn="l"/>
              </a:tabLst>
            </a:pPr>
            <a:endParaRPr lang="en-US" altLang="en-US" dirty="0">
              <a:latin typeface="Times New Roman" panose="02020603050405020304" pitchFamily="18" charset="0"/>
              <a:cs typeface="Times New Roman" panose="02020603050405020304" pitchFamily="18" charset="0"/>
            </a:endParaRPr>
          </a:p>
          <a:p>
            <a:pPr marL="342900" lvl="0" indent="-342900" algn="just">
              <a:lnSpc>
                <a:spcPct val="90000"/>
              </a:lnSpc>
              <a:buFont typeface="+mj-lt"/>
              <a:buAutoNum type="arabicPeriod"/>
              <a:tabLst>
                <a:tab pos="269875" algn="l"/>
              </a:tabLst>
            </a:pPr>
            <a:r>
              <a:rPr lang="en-US" altLang="en-US" dirty="0" err="1">
                <a:latin typeface="Times New Roman" panose="02020603050405020304" pitchFamily="18" charset="0"/>
                <a:cs typeface="Times New Roman" panose="02020603050405020304" pitchFamily="18" charset="0"/>
                <a:sym typeface="+mn-ea"/>
              </a:rPr>
              <a:t>Zamzari</a:t>
            </a:r>
            <a:r>
              <a:rPr lang="en-US" altLang="en-US" dirty="0">
                <a:latin typeface="Times New Roman" panose="02020603050405020304" pitchFamily="18" charset="0"/>
                <a:cs typeface="Times New Roman" panose="02020603050405020304" pitchFamily="18" charset="0"/>
                <a:sym typeface="+mn-ea"/>
              </a:rPr>
              <a:t> N.Z., Kassim M., Yusoff M. "Analysis and Development of IoT-based Aqua Fish Monitoring System" International Journal of Emerging Technology and Advanced Engineering, Vol. 12 Issue 10,</a:t>
            </a:r>
            <a:endParaRPr lang="en-US" altLang="en-US" dirty="0">
              <a:latin typeface="Times New Roman" panose="02020603050405020304" pitchFamily="18" charset="0"/>
              <a:cs typeface="Times New Roman" panose="02020603050405020304" pitchFamily="18" charset="0"/>
            </a:endParaRPr>
          </a:p>
          <a:p>
            <a:pPr marL="0" indent="0" algn="just">
              <a:lnSpc>
                <a:spcPct val="90000"/>
              </a:lnSpc>
              <a:buNone/>
            </a:pPr>
            <a:r>
              <a:rPr lang="en-US" altLang="en-US" dirty="0">
                <a:latin typeface="Times New Roman" panose="02020603050405020304" pitchFamily="18" charset="0"/>
                <a:cs typeface="Times New Roman" panose="02020603050405020304" pitchFamily="18" charset="0"/>
                <a:sym typeface="+mn-ea"/>
              </a:rPr>
              <a:t>     pp. 191 - 197, Oct 2022, DOI: 10.46338/ijetae1022_20</a:t>
            </a:r>
            <a:endParaRPr lang="en-US" altLang="en-US" dirty="0">
              <a:latin typeface="Times New Roman" panose="02020603050405020304" pitchFamily="18" charset="0"/>
              <a:cs typeface="Times New Roman" panose="02020603050405020304" pitchFamily="18" charset="0"/>
              <a:sym typeface="+mn-ea"/>
            </a:endParaRPr>
          </a:p>
          <a:p>
            <a:pPr marL="0" indent="0" algn="just">
              <a:lnSpc>
                <a:spcPct val="90000"/>
              </a:lnSpc>
              <a:buNone/>
            </a:pPr>
            <a:endParaRPr lang="en-US" altLang="en-US" dirty="0">
              <a:latin typeface="Times New Roman" panose="02020603050405020304" pitchFamily="18" charset="0"/>
              <a:cs typeface="Times New Roman" panose="02020603050405020304" pitchFamily="18" charset="0"/>
              <a:sym typeface="+mn-ea"/>
            </a:endParaRPr>
          </a:p>
          <a:p>
            <a:pPr lvl="0" indent="0" algn="just">
              <a:lnSpc>
                <a:spcPct val="110000"/>
              </a:lnSpc>
              <a:buFont typeface="+mj-lt"/>
              <a:buNone/>
              <a:tabLst>
                <a:tab pos="269875" algn="l"/>
              </a:tabLst>
            </a:pPr>
            <a:r>
              <a:rPr lang="en-US" altLang="en-US" dirty="0">
                <a:latin typeface="Times New Roman" panose="02020603050405020304" pitchFamily="18" charset="0"/>
                <a:cs typeface="Times New Roman" panose="02020603050405020304" pitchFamily="18" charset="0"/>
                <a:sym typeface="+mn-ea"/>
              </a:rPr>
              <a:t>4.  </a:t>
            </a:r>
            <a:r>
              <a:rPr lang="en-US" altLang="en-US" dirty="0" err="1">
                <a:latin typeface="Times New Roman" panose="02020603050405020304" pitchFamily="18" charset="0"/>
                <a:cs typeface="Times New Roman" panose="02020603050405020304" pitchFamily="18" charset="0"/>
                <a:sym typeface="+mn-ea"/>
              </a:rPr>
              <a:t>Kcomt</a:t>
            </a:r>
            <a:r>
              <a:rPr lang="en-US" altLang="en-US" dirty="0">
                <a:latin typeface="Times New Roman" panose="02020603050405020304" pitchFamily="18" charset="0"/>
                <a:cs typeface="Times New Roman" panose="02020603050405020304" pitchFamily="18" charset="0"/>
                <a:sym typeface="+mn-ea"/>
              </a:rPr>
              <a:t>-Ponce E.J., </a:t>
            </a:r>
            <a:r>
              <a:rPr lang="en-US" altLang="en-US" dirty="0" err="1">
                <a:latin typeface="Times New Roman" panose="02020603050405020304" pitchFamily="18" charset="0"/>
                <a:cs typeface="Times New Roman" panose="02020603050405020304" pitchFamily="18" charset="0"/>
                <a:sym typeface="+mn-ea"/>
              </a:rPr>
              <a:t>Huamaní</a:t>
            </a:r>
            <a:r>
              <a:rPr lang="en-US" altLang="en-US" dirty="0">
                <a:latin typeface="Times New Roman" panose="02020603050405020304" pitchFamily="18" charset="0"/>
                <a:cs typeface="Times New Roman" panose="02020603050405020304" pitchFamily="18" charset="0"/>
                <a:sym typeface="+mn-ea"/>
              </a:rPr>
              <a:t> E.L., Delgado </a:t>
            </a:r>
            <a:r>
              <a:rPr lang="en-US" altLang="en-US" dirty="0" err="1">
                <a:latin typeface="Times New Roman" panose="02020603050405020304" pitchFamily="18" charset="0"/>
                <a:cs typeface="Times New Roman" panose="02020603050405020304" pitchFamily="18" charset="0"/>
                <a:sym typeface="+mn-ea"/>
              </a:rPr>
              <a:t>A."Implementation</a:t>
            </a:r>
            <a:r>
              <a:rPr lang="en-US" altLang="en-US" dirty="0">
                <a:latin typeface="Times New Roman" panose="02020603050405020304" pitchFamily="18" charset="0"/>
                <a:cs typeface="Times New Roman" panose="02020603050405020304" pitchFamily="18" charset="0"/>
                <a:sym typeface="+mn-ea"/>
              </a:rPr>
              <a:t> of Machine Learning in Health Management to</a:t>
            </a:r>
            <a:endParaRPr lang="en-US" altLang="en-US" dirty="0">
              <a:latin typeface="Times New Roman" panose="02020603050405020304" pitchFamily="18" charset="0"/>
              <a:cs typeface="Times New Roman" panose="02020603050405020304" pitchFamily="18" charset="0"/>
              <a:sym typeface="+mn-ea"/>
            </a:endParaRPr>
          </a:p>
          <a:p>
            <a:pPr lvl="0" indent="0" algn="just">
              <a:lnSpc>
                <a:spcPct val="110000"/>
              </a:lnSpc>
              <a:buFont typeface="+mj-lt"/>
              <a:buNone/>
              <a:tabLst>
                <a:tab pos="269875" algn="l"/>
              </a:tabLst>
            </a:pPr>
            <a:r>
              <a:rPr lang="en-US" altLang="en-US" dirty="0">
                <a:latin typeface="Times New Roman" panose="02020603050405020304" pitchFamily="18" charset="0"/>
                <a:cs typeface="Times New Roman" panose="02020603050405020304" pitchFamily="18" charset="0"/>
                <a:sym typeface="+mn-ea"/>
              </a:rPr>
              <a:t>     Improve the Process of Medical </a:t>
            </a:r>
            <a:r>
              <a:rPr lang="en-US" altLang="en-US" dirty="0" err="1">
                <a:latin typeface="Times New Roman" panose="02020603050405020304" pitchFamily="18" charset="0"/>
                <a:cs typeface="Times New Roman" panose="02020603050405020304" pitchFamily="18" charset="0"/>
                <a:sym typeface="+mn-ea"/>
              </a:rPr>
              <a:t>Appointmentsin</a:t>
            </a:r>
            <a:r>
              <a:rPr lang="en-US" altLang="en-US" dirty="0">
                <a:latin typeface="Times New Roman" panose="02020603050405020304" pitchFamily="18" charset="0"/>
                <a:cs typeface="Times New Roman" panose="02020603050405020304" pitchFamily="18" charset="0"/>
                <a:sym typeface="+mn-ea"/>
              </a:rPr>
              <a:t> Perú" International Journal of Emerging Technology and   </a:t>
            </a:r>
            <a:endParaRPr lang="en-US" altLang="en-US" dirty="0">
              <a:latin typeface="Times New Roman" panose="02020603050405020304" pitchFamily="18" charset="0"/>
              <a:cs typeface="Times New Roman" panose="02020603050405020304" pitchFamily="18" charset="0"/>
              <a:sym typeface="+mn-ea"/>
            </a:endParaRPr>
          </a:p>
          <a:p>
            <a:pPr lvl="0" indent="0" algn="just">
              <a:lnSpc>
                <a:spcPct val="110000"/>
              </a:lnSpc>
              <a:buFont typeface="+mj-lt"/>
              <a:buNone/>
              <a:tabLst>
                <a:tab pos="269875" algn="l"/>
              </a:tabLst>
            </a:pPr>
            <a:r>
              <a:rPr lang="en-US" altLang="en-US" dirty="0">
                <a:latin typeface="Times New Roman" panose="02020603050405020304" pitchFamily="18" charset="0"/>
                <a:cs typeface="Times New Roman" panose="02020603050405020304" pitchFamily="18" charset="0"/>
                <a:sym typeface="+mn-ea"/>
              </a:rPr>
              <a:t>      Advanced Engineering, Vol. 12, Issue 2, pp. 74 - 85 Feb 2022, DOI: 10.46338/ijetae0222_09.</a:t>
            </a:r>
            <a:endParaRPr lang="en-US" altLang="en-US" dirty="0">
              <a:latin typeface="Times New Roman" panose="02020603050405020304" pitchFamily="18" charset="0"/>
              <a:cs typeface="Times New Roman" panose="02020603050405020304" pitchFamily="18" charset="0"/>
              <a:sym typeface="+mn-ea"/>
            </a:endParaRPr>
          </a:p>
          <a:p>
            <a:pPr lvl="0" indent="0" algn="just">
              <a:lnSpc>
                <a:spcPct val="110000"/>
              </a:lnSpc>
              <a:buFont typeface="+mj-lt"/>
              <a:buNone/>
              <a:tabLst>
                <a:tab pos="269875" algn="l"/>
              </a:tabLst>
            </a:pPr>
            <a:endParaRPr lang="en-US" altLang="en-US" dirty="0">
              <a:latin typeface="Times New Roman" panose="02020603050405020304" pitchFamily="18" charset="0"/>
              <a:cs typeface="Times New Roman" panose="02020603050405020304" pitchFamily="18" charset="0"/>
              <a:sym typeface="+mn-ea"/>
            </a:endParaRPr>
          </a:p>
          <a:p>
            <a:pPr lvl="0" indent="0" algn="just">
              <a:lnSpc>
                <a:spcPct val="110000"/>
              </a:lnSpc>
              <a:buFont typeface="+mj-lt"/>
              <a:buNone/>
              <a:tabLst>
                <a:tab pos="269875" algn="l"/>
              </a:tabLst>
            </a:pPr>
            <a:r>
              <a:rPr lang="en-US" altLang="en-US" dirty="0">
                <a:latin typeface="Times New Roman" panose="02020603050405020304" pitchFamily="18" charset="0"/>
                <a:cs typeface="Times New Roman" panose="02020603050405020304" pitchFamily="18" charset="0"/>
              </a:rPr>
              <a:t>5.  </a:t>
            </a:r>
            <a:r>
              <a:rPr lang="en-US" altLang="en-US" dirty="0">
                <a:latin typeface="Times New Roman" panose="02020603050405020304" pitchFamily="18" charset="0"/>
                <a:cs typeface="Times New Roman" panose="02020603050405020304" pitchFamily="18" charset="0"/>
                <a:sym typeface="+mn-ea"/>
              </a:rPr>
              <a:t>P. Rawat, M. Bajaj, P. Prerna, S. Vats, V. Sharma and P. Das, "A Study on Liver Disease Using Different </a:t>
            </a:r>
            <a:endParaRPr lang="en-US" altLang="en-US" dirty="0">
              <a:latin typeface="Times New Roman" panose="02020603050405020304" pitchFamily="18" charset="0"/>
              <a:cs typeface="Times New Roman" panose="02020603050405020304" pitchFamily="18" charset="0"/>
              <a:sym typeface="+mn-ea"/>
            </a:endParaRPr>
          </a:p>
          <a:p>
            <a:pPr lvl="0" indent="0" algn="just">
              <a:lnSpc>
                <a:spcPct val="110000"/>
              </a:lnSpc>
              <a:buFont typeface="+mj-lt"/>
              <a:buNone/>
              <a:tabLst>
                <a:tab pos="269875" algn="l"/>
              </a:tabLst>
            </a:pPr>
            <a:r>
              <a:rPr lang="en-US" altLang="en-US" dirty="0">
                <a:latin typeface="Times New Roman" panose="02020603050405020304" pitchFamily="18" charset="0"/>
                <a:cs typeface="Times New Roman" panose="02020603050405020304" pitchFamily="18" charset="0"/>
                <a:sym typeface="+mn-ea"/>
              </a:rPr>
              <a:t>     Machine Learning Algorithms," 2023 International Conference on Computational Intelligence, Communication </a:t>
            </a:r>
            <a:endParaRPr lang="en-US" altLang="en-US" dirty="0">
              <a:latin typeface="Times New Roman" panose="02020603050405020304" pitchFamily="18" charset="0"/>
              <a:cs typeface="Times New Roman" panose="02020603050405020304" pitchFamily="18" charset="0"/>
              <a:sym typeface="+mn-ea"/>
            </a:endParaRPr>
          </a:p>
          <a:p>
            <a:pPr lvl="0" indent="0" algn="just">
              <a:lnSpc>
                <a:spcPct val="110000"/>
              </a:lnSpc>
              <a:buFont typeface="+mj-lt"/>
              <a:buNone/>
              <a:tabLst>
                <a:tab pos="269875" algn="l"/>
              </a:tabLst>
            </a:pPr>
            <a:r>
              <a:rPr lang="en-US" altLang="en-US" dirty="0">
                <a:latin typeface="Times New Roman" panose="02020603050405020304" pitchFamily="18" charset="0"/>
                <a:cs typeface="Times New Roman" panose="02020603050405020304" pitchFamily="18" charset="0"/>
                <a:sym typeface="+mn-ea"/>
              </a:rPr>
              <a:t>     Technology and Networking (CICTN), Ghaziabad, India, 2023, pp. 721-727, </a:t>
            </a:r>
            <a:r>
              <a:rPr lang="en-US" altLang="en-US" dirty="0" err="1">
                <a:latin typeface="Times New Roman" panose="02020603050405020304" pitchFamily="18" charset="0"/>
                <a:cs typeface="Times New Roman" panose="02020603050405020304" pitchFamily="18" charset="0"/>
                <a:sym typeface="+mn-ea"/>
              </a:rPr>
              <a:t>doi</a:t>
            </a:r>
            <a:r>
              <a:rPr lang="en-US" altLang="en-US" dirty="0">
                <a:latin typeface="Times New Roman" panose="02020603050405020304" pitchFamily="18" charset="0"/>
                <a:cs typeface="Times New Roman" panose="02020603050405020304" pitchFamily="18" charset="0"/>
                <a:sym typeface="+mn-ea"/>
              </a:rPr>
              <a:t>: .</a:t>
            </a:r>
            <a:endParaRPr lang="en-US" altLang="en-US" dirty="0">
              <a:latin typeface="Times New Roman" panose="02020603050405020304" pitchFamily="18" charset="0"/>
              <a:cs typeface="Times New Roman" panose="02020603050405020304" pitchFamily="18" charset="0"/>
            </a:endParaRPr>
          </a:p>
          <a:p>
            <a:pPr lvl="0" indent="0" algn="just">
              <a:lnSpc>
                <a:spcPct val="110000"/>
              </a:lnSpc>
              <a:buFont typeface="+mj-lt"/>
              <a:buNone/>
              <a:tabLst>
                <a:tab pos="269875" algn="l"/>
              </a:tabLst>
            </a:pPr>
            <a:r>
              <a:rPr lang="en-US" altLang="en-IN" dirty="0">
                <a:effectLst/>
                <a:latin typeface="Times New Roman" panose="02020603050405020304" pitchFamily="18" charset="0"/>
                <a:ea typeface="SimSun" panose="02010600030101010101" pitchFamily="2" charset="-122"/>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mn-ea"/>
              </a:rPr>
              <a:t>10.1109/CICTN57981.2023.10141325</a:t>
            </a:r>
            <a:endParaRPr lang="en-IN" dirty="0">
              <a:effectLst/>
              <a:latin typeface="Times New Roman" panose="02020603050405020304" pitchFamily="18" charset="0"/>
              <a:ea typeface="SimSun" panose="02010600030101010101" pitchFamily="2" charset="-122"/>
              <a:cs typeface="Times New Roman" panose="02020603050405020304" pitchFamily="18" charset="0"/>
            </a:endParaRPr>
          </a:p>
          <a:p>
            <a:pPr lvl="0" indent="0">
              <a:lnSpc>
                <a:spcPct val="110000"/>
              </a:lnSpc>
              <a:buFont typeface="+mj-lt"/>
              <a:buNone/>
              <a:tabLst>
                <a:tab pos="269875" algn="l"/>
              </a:tabLst>
            </a:pPr>
            <a:r>
              <a:rPr lang="en-US" altLang="en-US" dirty="0">
                <a:latin typeface="Times New Roman" panose="02020603050405020304" pitchFamily="18" charset="0"/>
                <a:cs typeface="Times New Roman" panose="02020603050405020304" pitchFamily="18" charset="0"/>
                <a:sym typeface="+mn-ea"/>
              </a:rPr>
              <a:t>    </a:t>
            </a:r>
            <a:endParaRPr lang="en-IN" dirty="0">
              <a:effectLst/>
              <a:latin typeface="Times New Roman" panose="02020603050405020304" pitchFamily="18" charset="0"/>
              <a:ea typeface="SimSun" panose="02010600030101010101" pitchFamily="2" charset="-122"/>
            </a:endParaRPr>
          </a:p>
          <a:p>
            <a:pPr lvl="0" indent="0">
              <a:lnSpc>
                <a:spcPct val="110000"/>
              </a:lnSpc>
              <a:buFont typeface="+mj-lt"/>
              <a:buNone/>
              <a:tabLst>
                <a:tab pos="269875" algn="l"/>
              </a:tabLst>
            </a:pPr>
            <a:endParaRPr lang="en-IN" sz="1800" dirty="0">
              <a:effectLst/>
              <a:latin typeface="Times New Roman" panose="02020603050405020304" pitchFamily="18" charset="0"/>
              <a:ea typeface="SimSun" panose="02010600030101010101" pitchFamily="2" charset="-122"/>
            </a:endParaRPr>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10222" y="2401278"/>
            <a:ext cx="5345097" cy="1754326"/>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Thank You</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Questions </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transition spd="slow">
    <p:fade/>
  </p:transition>
</p:sld>
</file>

<file path=ppt/tags/tag1.xml><?xml version="1.0" encoding="utf-8"?>
<p:tagLst xmlns:p="http://schemas.openxmlformats.org/presentationml/2006/main">
  <p:tag name="TABLE_ENDDRAG_ORIGIN_RECT" val="841*376"/>
  <p:tag name="TABLE_ENDDRAG_RECT" val="59*112*841*376"/>
</p:tagLst>
</file>

<file path=ppt/tags/tag2.xml><?xml version="1.0" encoding="utf-8"?>
<p:tagLst xmlns:p="http://schemas.openxmlformats.org/presentationml/2006/main">
  <p:tag name="TABLE_ENDDRAG_ORIGIN_RECT" val="795*316"/>
  <p:tag name="TABLE_ENDDRAG_RECT" val="84*104*795*316"/>
</p:tagLst>
</file>

<file path=ppt/tags/tag3.xml><?xml version="1.0" encoding="utf-8"?>
<p:tagLst xmlns:p="http://schemas.openxmlformats.org/presentationml/2006/main">
  <p:tag name="TABLE_ENDDRAG_ORIGIN_RECT" val="739*227"/>
  <p:tag name="TABLE_ENDDRAG_RECT" val="68*66*739*22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0</TotalTime>
  <Words>20159</Words>
  <Application>WPS Presentation</Application>
  <PresentationFormat>Widescreen</PresentationFormat>
  <Paragraphs>521</Paragraphs>
  <Slides>42</Slides>
  <Notes>0</Notes>
  <HiddenSlides>0</HiddenSlides>
  <MMClips>0</MMClips>
  <ScaleCrop>false</ScaleCrop>
  <HeadingPairs>
    <vt:vector size="6" baseType="variant">
      <vt:variant>
        <vt:lpstr>已用的字体</vt:lpstr>
      </vt:variant>
      <vt:variant>
        <vt:i4>18</vt:i4>
      </vt:variant>
      <vt:variant>
        <vt:lpstr>主题</vt:lpstr>
      </vt:variant>
      <vt:variant>
        <vt:i4>5</vt:i4>
      </vt:variant>
      <vt:variant>
        <vt:lpstr>幻灯片标题</vt:lpstr>
      </vt:variant>
      <vt:variant>
        <vt:i4>42</vt:i4>
      </vt:variant>
    </vt:vector>
  </HeadingPairs>
  <TitlesOfParts>
    <vt:vector size="65" baseType="lpstr">
      <vt:lpstr>Arial</vt:lpstr>
      <vt:lpstr>SimSun</vt:lpstr>
      <vt:lpstr>Wingdings</vt:lpstr>
      <vt:lpstr>Wingdings</vt:lpstr>
      <vt:lpstr>Wingdings 2</vt:lpstr>
      <vt:lpstr>Wingdings 3</vt:lpstr>
      <vt:lpstr>Symbol</vt:lpstr>
      <vt:lpstr>Georgia</vt:lpstr>
      <vt:lpstr>Algerian</vt:lpstr>
      <vt:lpstr>Times New Roman</vt:lpstr>
      <vt:lpstr>Arial Black</vt:lpstr>
      <vt:lpstr>Trebuchet MS</vt:lpstr>
      <vt:lpstr>Microsoft YaHei</vt:lpstr>
      <vt:lpstr>Arial Unicode MS</vt:lpstr>
      <vt:lpstr>Calibri</vt:lpstr>
      <vt:lpstr>Kozuka Mincho Pr6N B</vt:lpstr>
      <vt:lpstr>MS Mincho</vt:lpstr>
      <vt:lpstr>Consolas</vt:lpstr>
      <vt:lpstr>Metro</vt:lpstr>
      <vt:lpstr>Horizon</vt:lpstr>
      <vt:lpstr>Civic</vt:lpstr>
      <vt:lpstr>Waveform</vt:lpstr>
      <vt:lpstr>Slipstream</vt:lpstr>
      <vt:lpstr>ANNAMACHARYA INSTITUTE OF TECHNOLOGY AND SCIENCES::TIRUPATI (AUTONOMOUS) Computer Science and Engineering A.Y.: 2025-2026 Final Review  AN AUTOMATED MACHINE LEARNING  APPROACH FOR MOBILE APP RATING ESTIMATION</vt:lpstr>
      <vt:lpstr>ABSTRACT</vt:lpstr>
      <vt:lpstr>DOMAIN INTRODUCTION</vt:lpstr>
      <vt:lpstr>EXISTING SYSTEM</vt:lpstr>
      <vt:lpstr>EXISTING SYSTEM-DISADVANTAGES</vt:lpstr>
      <vt:lpstr>LITERATURE SURVEY</vt:lpstr>
      <vt:lpstr>PowerPoint 演示文稿</vt:lpstr>
      <vt:lpstr>PROPOSED SYSTEM</vt:lpstr>
      <vt:lpstr>PROPOSED SYSTEM-ADVANTAGES</vt:lpstr>
      <vt:lpstr>MINIMUM SYSTEM REQUIREMENTS</vt:lpstr>
      <vt:lpstr>ANALYSIS AND DESIGN </vt:lpstr>
      <vt:lpstr>ANALYSIS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LENOVO</cp:lastModifiedBy>
  <cp:revision>90</cp:revision>
  <dcterms:created xsi:type="dcterms:W3CDTF">2021-12-20T13:54:00Z</dcterms:created>
  <dcterms:modified xsi:type="dcterms:W3CDTF">2026-05-12T15:15:25Z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3469C9FDD6EA49B08654411B5033E502_13</vt:lpwstr>
  </property>
  <property fmtid="{D5CDD505-2E9C-101B-9397-08002B2CF9AE}" pid="3" name="KSOProductBuildVer">
    <vt:lpwstr>1033-12.1.0.25862</vt:lpwstr>
  </property>
</Properties>
</file>